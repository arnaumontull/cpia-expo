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DE ORADOR (DIAPOSITIVA 1):</a:t>
            </a:r>
          </a:p>
          <a:p>
            <a:r>
              <a:t>Buenos días tribunal y compañeros. Soy Uriel, y en esta parte de nuestra presentación voy a presentar la clasificación no supervisada de materiales eléctricos mediante el algoritmo DBSCAN.</a:t>
            </a:r>
          </a:p>
          <a:p/>
          <a:p>
            <a:r>
              <a:t>El objetivo central de este trabajo es demostrar cómo un algoritmo de aprendizaje no supervisado basado en densidad espacial es capaz de redescubrir, sin ninguna etiqueta previa y partiendo únicamente de propiedades macroscópicas medibles en laboratorio, las tres grandes familias termodinámicas y cuánticas de la materia: metales conductores, semiconductores tecnológicos y aislantes dieléctricos.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DE ORADOR (DIAPOSITIVA 2):</a:t>
            </a:r>
          </a:p>
          <a:p>
            <a:r>
              <a:t>Para abordar este problema, debemos plantearnos qué magnitudes macroscópicas definen a un material.</a:t>
            </a:r>
          </a:p>
          <a:p>
            <a:r>
              <a:t>En estado sólido, la resistividad presenta un comportamiento extraordinario: abarca más de 30 órdenes de magnitud. Si utilizáramos una escala lineal, el cobre, el silicio y el agua quedarían todos aplastados contra el cero, y solo el teflón se distinguiría. Por ello, la primera variable fundamental es el logaritmo en base 10 de la resistividad a 300 Kelvin.</a:t>
            </a:r>
          </a:p>
          <a:p/>
          <a:p>
            <a:r>
              <a:t>Sin embargo, la resistividad sola no basta: un semiconductor dopado puede tener una resistividad parecida a una aleación metálica sucia. Aquí entra nuestra segunda variable: el coeficiente de temperatura alfa, que nos dice cómo cambia la resistividad al variar la temperatura. Juntas, estas dos variables forman un espacio bidimensional completísimo donde emerge la física cuántica.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DE ORADOR (DIAPOSITIVA 3):</a:t>
            </a:r>
          </a:p>
          <a:p>
            <a:r>
              <a:t>En esta diapositiva vemos la justificación física de por qué estos materiales forman islas separadas.</a:t>
            </a:r>
          </a:p>
          <a:p>
            <a:r>
              <a:t>1. En los metales, no hay gap de energía; los electrones son libres. Al calentar, los átomos vibran más y entorpecen a los electrones mediante fonones. Por eso, alfa es SIEMPRE positivo.</a:t>
            </a:r>
          </a:p>
          <a:p>
            <a:r>
              <a:t>2. En los semiconductores, ocurre exactamente lo opuesto: hay un bandgap moderado. Al calentar, la energía térmica excita electrones a través del gap exponencialmente según la estadística de Boltzmann. Hay tantos portadores nuevos que la resistividad CAE drásticamente. Por eso su alfa es fuertemente NEGATIVO.</a:t>
            </a:r>
          </a:p>
          <a:p>
            <a:r>
              <a:t>3. En los aislantes, el gap es tan inmenso (mayor a 5 o 9 electronvoltios) que a temperatura ambiente no hay portadores libres. Su alfa es prácticamente cero y su resistividad se dispara más allá de 10 a la 11 ohmios metro.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DE ORADOR (DIAPOSITIVA 4):</a:t>
            </a:r>
          </a:p>
          <a:p>
            <a:r>
              <a:t>Una pregunta obligada del tribunal es: ¿por qué no usar simplemente K-Means?</a:t>
            </a:r>
          </a:p>
          <a:p>
            <a:r>
              <a:t>La respuesta radica en la propia naturaleza de los datos físicos: K-Means asume implícitamente que los clusters tienen forma esférica y similar varianza o densidad. Pero en física de materiales esto no ocurre: los metales tienen resistividades idénticas en una ventana estrechísima, mientras que los aislantes se extienden a lo largo de 12 órdenes de magnitud.</a:t>
            </a:r>
          </a:p>
          <a:p/>
          <a:p>
            <a:r>
              <a:t>K-Means fracasaría aquí intentando igualar los tamaños de los grupos. DBSCAN, por contra, se basa exclusivamente en conectividad local por densidad (Core Points, Border Points y Noise). Si hay una región densa, DBSCAN la sigue y la agrupa; si hay un punto aislado, lo marca como ruido (-1) sin contaminar los grupos genuinos.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DE ORADOR (DIAPOSITIVA 5):</a:t>
            </a:r>
          </a:p>
          <a:p>
            <a:r>
              <a:t>En cuanto a la metodología, hay dos aspectos críticos que la rúbrica evalúa con rigor:</a:t>
            </a:r>
          </a:p>
          <a:p>
            <a:r>
              <a:t>Primero: el escalado. La distancia euclídea de DBSCAN suma los cuadrados de las diferencias. Si no escalamos, una variación en el logaritmo de resistividad es de 31 unidades, mientras que alfa varía solo en 0.08 unidades. La resistividad se comería a alfa. Por eso hemos programado manualmente con NumPy la estandarización Z-score: restando la media de cada variable y dividiendo entre su desviación típica.</a:t>
            </a:r>
          </a:p>
          <a:p/>
          <a:p>
            <a:r>
              <a:t>Segundo: los parámetros. min_samples se fija en 3 siguiendo la heurística de que debe ser al menos la dimensión espacial más uno (2 + 1). Y para el radio épsilon, fijamos 0.65 tras analizar el codo de distancias de los vecinos más próximos, asegurando la máxima silueta sin unir grupos distintos.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DE ORADOR (DIAPOSITIVA 6):</a:t>
            </a:r>
          </a:p>
          <a:p>
            <a:r>
              <a:t>Aquí pueden observar en pantalla el resultado directo de ejecutar DBSCAN sobre los 57 materiales reales.</a:t>
            </a:r>
          </a:p>
          <a:p>
            <a:r>
              <a:t>Fíjense en la elegancia de la separación:</a:t>
            </a:r>
          </a:p>
          <a:p>
            <a:r>
              <a:t>- En color ámbar a la izquierda, tenemos el Cluster 0 con todos los conductores metálicos: plata, cobre, oro, aluminio... Todos con logaritmo de resistividad en torno a -8 y un alfa positivo bien visible por encima de cero.</a:t>
            </a:r>
          </a:p>
          <a:p>
            <a:r>
              <a:t>- En color azul a la derecha, el Cluster 1 agrupa los aislantes: cuarzo, teflón, vidrio... Están muy separados en el eje horizontal y centrados en torno a alfa igual a cero.</a:t>
            </a:r>
          </a:p>
          <a:p>
            <a:r>
              <a:t>- Y en color verde esmeralda abajo al centro, el Cluster 2 agrupa los semiconductores clave: silicio, germanio, arseniuro de galio... Están aislados de los metales precisamente porque su alfa cae en la zona negativa, por debajo de la línea discontinua de alfa = 0.</a:t>
            </a:r>
          </a:p>
          <a:p>
            <a:r>
              <a:t>DBSCAN ha descubierto estas tres clases sin que nadie le dijera qué era cada material.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DE ORADOR (DIAPOSITIVA 7):</a:t>
            </a:r>
          </a:p>
          <a:p>
            <a:r>
              <a:t>Pasemos ahora a la validación cuantitativa y rigurosa de los resultados.</a:t>
            </a:r>
          </a:p>
          <a:p>
            <a:r>
              <a:t>En la matriz de contingencia cruzamos la etiqueta física real con el cluster descubierto por DBSCAN:</a:t>
            </a:r>
          </a:p>
          <a:p>
            <a:r>
              <a:t>- Los 10 aislantes fueron identificados con un 100% de pureza en el Cluster 1.</a:t>
            </a:r>
          </a:p>
          <a:p>
            <a:r>
              <a:t>- Los 35 conductores fueron clasificados con un 100% de pureza en el Cluster 0.</a:t>
            </a:r>
          </a:p>
          <a:p>
            <a:r>
              <a:t>- En los semiconductores, 10 de 12 se agruparon limpiamente en el Cluster 2. Los dos restantes corresponden a semimetales con estructura anisótropa como el grafito, cuya resistividad a temperatura ambiente es prácticamente metálica.</a:t>
            </a:r>
          </a:p>
          <a:p/>
          <a:p>
            <a:r>
              <a:t>Además, evaluamos el Silhouette Score de forma no supervisada con scikit-learn, obteniendo una puntuación de 0.7858. En Machine Learning, una silueta superior a 0.71 se clasifica como una estructura excelente y contundente, lo que demuestra el éxito del clustering.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DE ORADOR (DIAPOSITIVA 8):</a:t>
            </a:r>
          </a:p>
          <a:p>
            <a:r>
              <a:t>Para concluir mi exposición:</a:t>
            </a:r>
          </a:p>
          <a:p>
            <a:r>
              <a:t>Hemos demostrado con éxito que un algoritmo no supervisado basado en densidad como DBSCAN, alimentado con medidas de laboratorio en el espacio (log10(rho), alfa) y con una estandarización Z-score rigurosa, es capaz de redescubrir las tres fases cuánticas de la materia con una silueta de 0.7858 y un 100% de pureza en conductores y aislantes.</a:t>
            </a:r>
          </a:p>
          <a:p/>
          <a:p>
            <a:r>
              <a:t>Respecto a posibles preguntas que puedan surgir:</a:t>
            </a:r>
          </a:p>
          <a:p>
            <a:r>
              <a:t>Si nos preguntan por la sensibilidad a épsilon, sabemos que 0.65 es la ventana óptima: por debajo de 0.4 los aislantes se rompen en ruido, y por encima de 1.0 los semiconductores se funden con los conductores.</a:t>
            </a:r>
          </a:p>
          <a:p>
            <a:r>
              <a:t>Y si nos preguntan por qué el logaritmo, es fundamental para permitir que magnitudes separadas por 30 órdenes de magnitud puedan coexistir en una misma métrica euclídea.</a:t>
            </a:r>
          </a:p>
          <a:p/>
          <a:p>
            <a:r>
              <a:t>Muchas gracias por su atención, quedo a su disposición para cualquier pregunta.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731520" y="731520"/>
            <a:ext cx="10728655" cy="5394960"/>
          </a:xfrm>
          <a:prstGeom prst="roundRect">
            <a:avLst/>
          </a:prstGeom>
          <a:solidFill>
            <a:srgbClr val="F8FAFC"/>
          </a:solidFill>
          <a:ln w="1524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188720"/>
            <a:ext cx="9784080" cy="457200"/>
          </a:xfrm>
          <a:prstGeom prst="rect">
            <a:avLst/>
          </a:prstGeom>
          <a:noFill/>
        </p:spPr>
        <p:txBody>
          <a:bodyPr wrap="none">
            <a:spAutoFit/>
          </a:bodyPr>
          <a:lstStyle/>
          <a:p>
            <a:pPr>
              <a:defRPr sz="1300" b="1">
                <a:solidFill>
                  <a:srgbClr val="059669"/>
                </a:solidFill>
              </a:defRPr>
            </a:pPr>
            <a:r>
              <a:t>PROYECTO CPIA · CLUSTERING EN FÍSICA DEL ESTADO SÓLIDO</a:t>
            </a:r>
          </a:p>
        </p:txBody>
      </p:sp>
      <p:sp>
        <p:nvSpPr>
          <p:cNvPr id="4" name="TextBox 3"/>
          <p:cNvSpPr txBox="1"/>
          <p:nvPr/>
        </p:nvSpPr>
        <p:spPr>
          <a:xfrm>
            <a:off x="1188720" y="1737360"/>
            <a:ext cx="9784080" cy="1645920"/>
          </a:xfrm>
          <a:prstGeom prst="rect">
            <a:avLst/>
          </a:prstGeom>
          <a:noFill/>
        </p:spPr>
        <p:txBody>
          <a:bodyPr wrap="square">
            <a:spAutoFit/>
          </a:bodyPr>
          <a:lstStyle/>
          <a:p>
            <a:pPr>
              <a:defRPr sz="3600" b="1">
                <a:solidFill>
                  <a:srgbClr val="0F172A"/>
                </a:solidFill>
              </a:defRPr>
            </a:pPr>
            <a:r>
              <a:t>Clasificación de Materiales Eléctricos mediante DBSCAN</a:t>
            </a:r>
          </a:p>
        </p:txBody>
      </p:sp>
      <p:sp>
        <p:nvSpPr>
          <p:cNvPr id="5" name="TextBox 4"/>
          <p:cNvSpPr txBox="1"/>
          <p:nvPr/>
        </p:nvSpPr>
        <p:spPr>
          <a:xfrm>
            <a:off x="1188720" y="3291840"/>
            <a:ext cx="9784080" cy="914400"/>
          </a:xfrm>
          <a:prstGeom prst="rect">
            <a:avLst/>
          </a:prstGeom>
          <a:noFill/>
        </p:spPr>
        <p:txBody>
          <a:bodyPr wrap="square">
            <a:spAutoFit/>
          </a:bodyPr>
          <a:lstStyle/>
          <a:p>
            <a:pPr>
              <a:defRPr sz="1800">
                <a:solidFill>
                  <a:srgbClr val="334155"/>
                </a:solidFill>
              </a:defRPr>
            </a:pPr>
            <a:r>
              <a:t>Descubrimiento No Supervisado de Fases Cuánticas (Conductores, Semiconductores y Aislantes)</a:t>
            </a:r>
          </a:p>
        </p:txBody>
      </p:sp>
      <p:sp>
        <p:nvSpPr>
          <p:cNvPr id="6" name="TextBox 5"/>
          <p:cNvSpPr txBox="1"/>
          <p:nvPr/>
        </p:nvSpPr>
        <p:spPr>
          <a:xfrm>
            <a:off x="1188720" y="4297680"/>
            <a:ext cx="9784080" cy="1371600"/>
          </a:xfrm>
          <a:prstGeom prst="rect">
            <a:avLst/>
          </a:prstGeom>
          <a:noFill/>
        </p:spPr>
        <p:txBody>
          <a:bodyPr wrap="none">
            <a:spAutoFit/>
          </a:bodyPr>
          <a:lstStyle/>
          <a:p>
            <a:pPr>
              <a:defRPr sz="1600" b="1">
                <a:solidFill>
                  <a:srgbClr val="0F172A"/>
                </a:solidFill>
              </a:defRPr>
            </a:pPr>
            <a:r>
              <a:t>Autor: Uriel</a:t>
            </a:r>
          </a:p>
          <a:p>
            <a:pPr>
              <a:defRPr sz="1400">
                <a:solidFill>
                  <a:srgbClr val="64748B"/>
                </a:solidFill>
              </a:defRPr>
            </a:pPr>
            <a:r>
              <a:t>Equipo: Matías · Martí · Uriel · Arnau Montull</a:t>
            </a:r>
          </a:p>
          <a:p>
            <a:pPr>
              <a:defRPr sz="1300">
                <a:solidFill>
                  <a:srgbClr val="64748B"/>
                </a:solidFill>
              </a:defRPr>
            </a:pPr>
            <a:r>
              <a:t>Grado en Ingeniería Física · Universitat Politècnica de Catalunya (UPC)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059669"/>
                </a:solidFill>
              </a:defRPr>
            </a:pPr>
            <a:r>
              <a:t>CPIA · APRENDIZAJE NO SUPERVISADO</a:t>
            </a:r>
          </a:p>
        </p:txBody>
      </p:sp>
      <p:sp>
        <p:nvSpPr>
          <p:cNvPr id="3" name="TextBox 2"/>
          <p:cNvSpPr txBox="1"/>
          <p:nvPr/>
        </p:nvSpPr>
        <p:spPr>
          <a:xfrm>
            <a:off x="731520" y="685800"/>
            <a:ext cx="10698480" cy="731520"/>
          </a:xfrm>
          <a:prstGeom prst="rect">
            <a:avLst/>
          </a:prstGeom>
          <a:noFill/>
        </p:spPr>
        <p:txBody>
          <a:bodyPr wrap="square">
            <a:spAutoFit/>
          </a:bodyPr>
          <a:lstStyle/>
          <a:p>
            <a:pPr>
              <a:defRPr sz="2400" b="1">
                <a:solidFill>
                  <a:srgbClr val="0F172A"/>
                </a:solidFill>
              </a:defRPr>
            </a:pPr>
            <a:r>
              <a:t>Contexto Físico y Espacio de Características</a:t>
            </a:r>
          </a:p>
        </p:txBody>
      </p:sp>
      <p:sp>
        <p:nvSpPr>
          <p:cNvPr id="4" name="Rectangle 3"/>
          <p:cNvSpPr/>
          <p:nvPr/>
        </p:nvSpPr>
        <p:spPr>
          <a:xfrm>
            <a:off x="731520" y="1417320"/>
            <a:ext cx="10728655" cy="27432"/>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645920"/>
            <a:ext cx="5120640" cy="45720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28800"/>
            <a:ext cx="4572000" cy="4206240"/>
          </a:xfrm>
          <a:prstGeom prst="rect">
            <a:avLst/>
          </a:prstGeom>
          <a:noFill/>
        </p:spPr>
        <p:txBody>
          <a:bodyPr wrap="square">
            <a:spAutoFit/>
          </a:bodyPr>
          <a:lstStyle/>
          <a:p>
            <a:pPr>
              <a:defRPr sz="1800" b="1">
                <a:solidFill>
                  <a:srgbClr val="2563EB"/>
                </a:solidFill>
              </a:defRPr>
            </a:pPr>
            <a:r>
              <a:t>¿Cómo clasificar materiales sin etiquetas?</a:t>
            </a:r>
          </a:p>
          <a:p>
            <a:pPr>
              <a:spcAft>
                <a:spcPts val="800"/>
              </a:spcAft>
              <a:defRPr sz="1350">
                <a:solidFill>
                  <a:srgbClr val="1E293B"/>
                </a:solidFill>
              </a:defRPr>
            </a:pPr>
            <a:r>
              <a:t>• 30 órdenes de magnitud: La resistividad eléctrica a 300 K abarca desde la plata (1.6·10⁻⁸ Ω·m) hasta el teflón (&gt; 10²² Ω·m).</a:t>
            </a:r>
          </a:p>
          <a:p>
            <a:pPr>
              <a:spcAft>
                <a:spcPts val="800"/>
              </a:spcAft>
              <a:defRPr sz="1350">
                <a:solidFill>
                  <a:srgbClr val="1E293B"/>
                </a:solidFill>
              </a:defRPr>
            </a:pPr>
            <a:r>
              <a:t>• Compresión logarítmica obligatoria: Definimos x₁ = log₁₀(ρ₃₀₀K). Sin escala logarítmica, el 99% de los materiales colapsaría en el origen.</a:t>
            </a:r>
          </a:p>
          <a:p>
            <a:pPr>
              <a:spcAft>
                <a:spcPts val="800"/>
              </a:spcAft>
              <a:defRPr sz="1350">
                <a:solidFill>
                  <a:srgbClr val="1E293B"/>
                </a:solidFill>
              </a:defRPr>
            </a:pPr>
            <a:r>
              <a:t>• Dataset oficial: 57 materiales reales recopilados con precisión experimental (metales puros, semiconductores clave y polímeros/cerámicas aislantes).</a:t>
            </a:r>
          </a:p>
          <a:p>
            <a:pPr>
              <a:spcAft>
                <a:spcPts val="800"/>
              </a:spcAft>
              <a:defRPr sz="1350">
                <a:solidFill>
                  <a:srgbClr val="1E293B"/>
                </a:solidFill>
              </a:defRPr>
            </a:pPr>
            <a:r>
              <a:t>• Objetivo no supervisado: Comprobar si el agrupamiento por densidad recupera las fases físicas puras.</a:t>
            </a:r>
          </a:p>
        </p:txBody>
      </p:sp>
      <p:sp>
        <p:nvSpPr>
          <p:cNvPr id="7" name="Rounded Rectangle 6"/>
          <p:cNvSpPr/>
          <p:nvPr/>
        </p:nvSpPr>
        <p:spPr>
          <a:xfrm>
            <a:off x="6217920" y="1645920"/>
            <a:ext cx="5212080" cy="45720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828800"/>
            <a:ext cx="4663440" cy="4206240"/>
          </a:xfrm>
          <a:prstGeom prst="rect">
            <a:avLst/>
          </a:prstGeom>
          <a:noFill/>
        </p:spPr>
        <p:txBody>
          <a:bodyPr wrap="square">
            <a:spAutoFit/>
          </a:bodyPr>
          <a:lstStyle/>
          <a:p>
            <a:pPr>
              <a:defRPr sz="1800" b="1">
                <a:solidFill>
                  <a:srgbClr val="059669"/>
                </a:solidFill>
              </a:defRPr>
            </a:pPr>
            <a:r>
              <a:t>Las Dos Firmas Cuánticas Macroscópicas</a:t>
            </a:r>
          </a:p>
          <a:p>
            <a:pPr>
              <a:spcAft>
                <a:spcPts val="800"/>
              </a:spcAft>
              <a:defRPr sz="1350">
                <a:solidFill>
                  <a:srgbClr val="1E293B"/>
                </a:solidFill>
              </a:defRPr>
            </a:pPr>
            <a:r>
              <a:t>• Variable 1: log₁₀(ρ₃₀₀K) Magnitud de la resistencia al flujo de portadores a temperatura ambiente (300 K).</a:t>
            </a:r>
          </a:p>
          <a:p>
            <a:pPr>
              <a:spcAft>
                <a:spcPts val="800"/>
              </a:spcAft>
              <a:defRPr sz="1350">
                <a:solidFill>
                  <a:srgbClr val="1E293B"/>
                </a:solidFill>
              </a:defRPr>
            </a:pPr>
            <a:r>
              <a:t>• Variable 2: Coeficiente térmico α Derivada de la resistividad frente a temperatura: α = (1/ρ₀) · (dρ/dT).</a:t>
            </a:r>
          </a:p>
          <a:p>
            <a:pPr>
              <a:spcAft>
                <a:spcPts val="800"/>
              </a:spcAft>
              <a:defRPr sz="1350">
                <a:solidFill>
                  <a:srgbClr val="1E293B"/>
                </a:solidFill>
              </a:defRPr>
            </a:pPr>
            <a:r>
              <a:t>• Firma física de α: Es el parámetro cuántico decisivo: indica si la resistividad sube o baja cuando calentamos el material.</a:t>
            </a:r>
          </a:p>
          <a:p>
            <a:pPr>
              <a:spcAft>
                <a:spcPts val="800"/>
              </a:spcAft>
              <a:defRPr sz="1350">
                <a:solidFill>
                  <a:srgbClr val="1E293B"/>
                </a:solidFill>
              </a:defRPr>
            </a:pPr>
            <a:r>
              <a:t>• Espacio bidimensional: Trabajamos en el plano (log₁₀ρ, α), donde cada material se proyecta como una coordenada única.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059669"/>
                </a:solidFill>
              </a:defRPr>
            </a:pPr>
            <a:r>
              <a:t>CPIA · APRENDIZAJE NO SUPERVISADO</a:t>
            </a:r>
          </a:p>
        </p:txBody>
      </p:sp>
      <p:sp>
        <p:nvSpPr>
          <p:cNvPr id="3" name="TextBox 2"/>
          <p:cNvSpPr txBox="1"/>
          <p:nvPr/>
        </p:nvSpPr>
        <p:spPr>
          <a:xfrm>
            <a:off x="731520" y="685800"/>
            <a:ext cx="10698480" cy="731520"/>
          </a:xfrm>
          <a:prstGeom prst="rect">
            <a:avLst/>
          </a:prstGeom>
          <a:noFill/>
        </p:spPr>
        <p:txBody>
          <a:bodyPr wrap="square">
            <a:spAutoFit/>
          </a:bodyPr>
          <a:lstStyle/>
          <a:p>
            <a:pPr>
              <a:defRPr sz="2400" b="1">
                <a:solidFill>
                  <a:srgbClr val="0F172A"/>
                </a:solidFill>
              </a:defRPr>
            </a:pPr>
            <a:r>
              <a:t>Fundamento Cuántico: ¿Por qué se agrupan en el plano?</a:t>
            </a:r>
          </a:p>
        </p:txBody>
      </p:sp>
      <p:sp>
        <p:nvSpPr>
          <p:cNvPr id="4" name="Rectangle 3"/>
          <p:cNvSpPr/>
          <p:nvPr/>
        </p:nvSpPr>
        <p:spPr>
          <a:xfrm>
            <a:off x="731520" y="1417320"/>
            <a:ext cx="10728655" cy="27432"/>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645920"/>
            <a:ext cx="3337560" cy="4572000"/>
          </a:xfrm>
          <a:prstGeom prst="roundRect">
            <a:avLst/>
          </a:prstGeom>
          <a:solidFill>
            <a:srgbClr val="F8FAFC"/>
          </a:solidFill>
          <a:ln w="1524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28800"/>
            <a:ext cx="2971800" cy="4206240"/>
          </a:xfrm>
          <a:prstGeom prst="rect">
            <a:avLst/>
          </a:prstGeom>
          <a:noFill/>
        </p:spPr>
        <p:txBody>
          <a:bodyPr wrap="square">
            <a:spAutoFit/>
          </a:bodyPr>
          <a:lstStyle/>
          <a:p>
            <a:pPr>
              <a:defRPr sz="1700" b="1">
                <a:solidFill>
                  <a:srgbClr val="D97706"/>
                </a:solidFill>
              </a:defRPr>
            </a:pPr>
            <a:r>
              <a:t>1. Metales (Conductores)</a:t>
            </a:r>
          </a:p>
          <a:p>
            <a:pPr>
              <a:spcAft>
                <a:spcPts val="600"/>
              </a:spcAft>
              <a:defRPr sz="1200">
                <a:solidFill>
                  <a:srgbClr val="1E293B"/>
                </a:solidFill>
              </a:defRPr>
            </a:pPr>
            <a:r>
              <a:t>• Estructura de bandas: Banda de conducción semillena, sin gap energético (Eg = 0).</a:t>
            </a:r>
          </a:p>
          <a:p>
            <a:pPr>
              <a:spcAft>
                <a:spcPts val="600"/>
              </a:spcAft>
              <a:defRPr sz="1200">
                <a:solidFill>
                  <a:srgbClr val="1E293B"/>
                </a:solidFill>
              </a:defRPr>
            </a:pPr>
            <a:r>
              <a:t>• Mecanismo: Electrones libres en el mar de Fermi.</a:t>
            </a:r>
          </a:p>
          <a:p>
            <a:pPr>
              <a:spcAft>
                <a:spcPts val="600"/>
              </a:spcAft>
              <a:defRPr sz="1200">
                <a:solidFill>
                  <a:srgbClr val="1E293B"/>
                </a:solidFill>
              </a:defRPr>
            </a:pPr>
            <a:r>
              <a:t>• Efecto de la temperatura: Al calentar, aumenta la vibración de la red (fonones). Mayor choque = mayor resistencia.</a:t>
            </a:r>
          </a:p>
          <a:p>
            <a:pPr>
              <a:spcAft>
                <a:spcPts val="600"/>
              </a:spcAft>
              <a:defRPr sz="1200">
                <a:solidFill>
                  <a:srgbClr val="1E293B"/>
                </a:solidFill>
              </a:defRPr>
            </a:pPr>
            <a:r>
              <a:t>• Signo de α: α &gt; 0 (+0.003 a +0.006 K⁻¹).</a:t>
            </a:r>
          </a:p>
          <a:p>
            <a:pPr>
              <a:spcAft>
                <a:spcPts val="600"/>
              </a:spcAft>
              <a:defRPr sz="1200">
                <a:solidFill>
                  <a:srgbClr val="1E293B"/>
                </a:solidFill>
              </a:defRPr>
            </a:pPr>
            <a:r>
              <a:t>• Topología: Cúmulo ultra denso alrededor de log₁₀ρ ≈ -8.</a:t>
            </a:r>
          </a:p>
        </p:txBody>
      </p:sp>
      <p:sp>
        <p:nvSpPr>
          <p:cNvPr id="7" name="Rounded Rectangle 6"/>
          <p:cNvSpPr/>
          <p:nvPr/>
        </p:nvSpPr>
        <p:spPr>
          <a:xfrm>
            <a:off x="4416552" y="1645920"/>
            <a:ext cx="3337560" cy="4572000"/>
          </a:xfrm>
          <a:prstGeom prst="roundRect">
            <a:avLst/>
          </a:prstGeom>
          <a:solidFill>
            <a:srgbClr val="F8FAFC"/>
          </a:solidFill>
          <a:ln w="1524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9432" y="1828800"/>
            <a:ext cx="2971800" cy="4206240"/>
          </a:xfrm>
          <a:prstGeom prst="rect">
            <a:avLst/>
          </a:prstGeom>
          <a:noFill/>
        </p:spPr>
        <p:txBody>
          <a:bodyPr wrap="square">
            <a:spAutoFit/>
          </a:bodyPr>
          <a:lstStyle/>
          <a:p>
            <a:pPr>
              <a:defRPr sz="1700" b="1">
                <a:solidFill>
                  <a:srgbClr val="059669"/>
                </a:solidFill>
              </a:defRPr>
            </a:pPr>
            <a:r>
              <a:t>2. Semiconductores</a:t>
            </a:r>
          </a:p>
          <a:p>
            <a:pPr>
              <a:spcAft>
                <a:spcPts val="600"/>
              </a:spcAft>
              <a:defRPr sz="1200">
                <a:solidFill>
                  <a:srgbClr val="1E293B"/>
                </a:solidFill>
              </a:defRPr>
            </a:pPr>
            <a:r>
              <a:t>• Estructura de bandas: Gap moderado (Eg ≈ 0.2 a 2.0 eV: Si, Ge, GaAs).</a:t>
            </a:r>
          </a:p>
          <a:p>
            <a:pPr>
              <a:spcAft>
                <a:spcPts val="600"/>
              </a:spcAft>
              <a:defRPr sz="1200">
                <a:solidFill>
                  <a:srgbClr val="1E293B"/>
                </a:solidFill>
              </a:defRPr>
            </a:pPr>
            <a:r>
              <a:t>• Mecanismo: Activación térmica según Boltzmann: n ∝ exp(-Eg / 2kBT).</a:t>
            </a:r>
          </a:p>
          <a:p>
            <a:pPr>
              <a:spcAft>
                <a:spcPts val="600"/>
              </a:spcAft>
              <a:defRPr sz="1200">
                <a:solidFill>
                  <a:srgbClr val="1E293B"/>
                </a:solidFill>
              </a:defRPr>
            </a:pPr>
            <a:r>
              <a:t>• Efecto de la temperatura: El calor libera avalanchas de portadores libres. La resistencia se desploma.</a:t>
            </a:r>
          </a:p>
          <a:p>
            <a:pPr>
              <a:spcAft>
                <a:spcPts val="600"/>
              </a:spcAft>
              <a:defRPr sz="1200">
                <a:solidFill>
                  <a:srgbClr val="1E293B"/>
                </a:solidFill>
              </a:defRPr>
            </a:pPr>
            <a:r>
              <a:t>• Signo de α: α &lt; 0 fuertemente negativo (-0.015 a -0.075 K⁻¹).</a:t>
            </a:r>
          </a:p>
          <a:p>
            <a:pPr>
              <a:spcAft>
                <a:spcPts val="600"/>
              </a:spcAft>
              <a:defRPr sz="1200">
                <a:solidFill>
                  <a:srgbClr val="1E293B"/>
                </a:solidFill>
              </a:defRPr>
            </a:pPr>
            <a:r>
              <a:t>• Topología: Región intermedia claramente separada por α negativo.</a:t>
            </a:r>
          </a:p>
        </p:txBody>
      </p:sp>
      <p:sp>
        <p:nvSpPr>
          <p:cNvPr id="9" name="Rounded Rectangle 8"/>
          <p:cNvSpPr/>
          <p:nvPr/>
        </p:nvSpPr>
        <p:spPr>
          <a:xfrm>
            <a:off x="8101584" y="1645920"/>
            <a:ext cx="3337560" cy="4572000"/>
          </a:xfrm>
          <a:prstGeom prst="roundRect">
            <a:avLst/>
          </a:prstGeom>
          <a:solidFill>
            <a:srgbClr val="F8FAFC"/>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84464" y="1828800"/>
            <a:ext cx="2971800" cy="4206240"/>
          </a:xfrm>
          <a:prstGeom prst="rect">
            <a:avLst/>
          </a:prstGeom>
          <a:noFill/>
        </p:spPr>
        <p:txBody>
          <a:bodyPr wrap="square">
            <a:spAutoFit/>
          </a:bodyPr>
          <a:lstStyle/>
          <a:p>
            <a:pPr>
              <a:defRPr sz="1700" b="1">
                <a:solidFill>
                  <a:srgbClr val="2563EB"/>
                </a:solidFill>
              </a:defRPr>
            </a:pPr>
            <a:r>
              <a:t>3. Aislantes (Dieléctricos)</a:t>
            </a:r>
          </a:p>
          <a:p>
            <a:pPr>
              <a:spcAft>
                <a:spcPts val="600"/>
              </a:spcAft>
              <a:defRPr sz="1200">
                <a:solidFill>
                  <a:srgbClr val="1E293B"/>
                </a:solidFill>
              </a:defRPr>
            </a:pPr>
            <a:r>
              <a:t>• Estructura de bandas: Gap prohibido gigantesco (Eg &gt; 5 a 9 eV: Vidrio, Cuarzo, Teflón).</a:t>
            </a:r>
          </a:p>
          <a:p>
            <a:pPr>
              <a:spcAft>
                <a:spcPts val="600"/>
              </a:spcAft>
              <a:defRPr sz="1200">
                <a:solidFill>
                  <a:srgbClr val="1E293B"/>
                </a:solidFill>
              </a:defRPr>
            </a:pPr>
            <a:r>
              <a:t>• Mecanismo: kBT a 300 K es ~0.026 eV; insuficiente para excitar electrones a la banda superior.</a:t>
            </a:r>
          </a:p>
          <a:p>
            <a:pPr>
              <a:spcAft>
                <a:spcPts val="600"/>
              </a:spcAft>
              <a:defRPr sz="1200">
                <a:solidFill>
                  <a:srgbClr val="1E293B"/>
                </a:solidFill>
              </a:defRPr>
            </a:pPr>
            <a:r>
              <a:t>• Efecto de la temperatura: Prácticamente nulo a escala ordinaria.</a:t>
            </a:r>
          </a:p>
          <a:p>
            <a:pPr>
              <a:spcAft>
                <a:spcPts val="600"/>
              </a:spcAft>
              <a:defRPr sz="1200">
                <a:solidFill>
                  <a:srgbClr val="1E293B"/>
                </a:solidFill>
              </a:defRPr>
            </a:pPr>
            <a:r>
              <a:t>• Signo de α: α ≈ 0 K⁻¹.</a:t>
            </a:r>
          </a:p>
          <a:p>
            <a:pPr>
              <a:spcAft>
                <a:spcPts val="600"/>
              </a:spcAft>
              <a:defRPr sz="1200">
                <a:solidFill>
                  <a:srgbClr val="1E293B"/>
                </a:solidFill>
              </a:defRPr>
            </a:pPr>
            <a:r>
              <a:t>• Topología: Cúmulo ancho y disperso en resistividades altísimas (log₁₀ρ &gt; 11).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059669"/>
                </a:solidFill>
              </a:defRPr>
            </a:pPr>
            <a:r>
              <a:t>CPIA · APRENDIZAJE NO SUPERVISADO</a:t>
            </a:r>
          </a:p>
        </p:txBody>
      </p:sp>
      <p:sp>
        <p:nvSpPr>
          <p:cNvPr id="3" name="TextBox 2"/>
          <p:cNvSpPr txBox="1"/>
          <p:nvPr/>
        </p:nvSpPr>
        <p:spPr>
          <a:xfrm>
            <a:off x="731520" y="685800"/>
            <a:ext cx="10698480" cy="731520"/>
          </a:xfrm>
          <a:prstGeom prst="rect">
            <a:avLst/>
          </a:prstGeom>
          <a:noFill/>
        </p:spPr>
        <p:txBody>
          <a:bodyPr wrap="square">
            <a:spAutoFit/>
          </a:bodyPr>
          <a:lstStyle/>
          <a:p>
            <a:pPr>
              <a:defRPr sz="2400" b="1">
                <a:solidFill>
                  <a:srgbClr val="0F172A"/>
                </a:solidFill>
              </a:defRPr>
            </a:pPr>
            <a:r>
              <a:t>¿Por qué DBSCAN y no K-Means?</a:t>
            </a:r>
          </a:p>
        </p:txBody>
      </p:sp>
      <p:sp>
        <p:nvSpPr>
          <p:cNvPr id="4" name="Rectangle 3"/>
          <p:cNvSpPr/>
          <p:nvPr/>
        </p:nvSpPr>
        <p:spPr>
          <a:xfrm>
            <a:off x="731520" y="1417320"/>
            <a:ext cx="10728655" cy="27432"/>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645920"/>
            <a:ext cx="5120640" cy="45720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28800"/>
            <a:ext cx="4572000" cy="4206240"/>
          </a:xfrm>
          <a:prstGeom prst="rect">
            <a:avLst/>
          </a:prstGeom>
          <a:noFill/>
        </p:spPr>
        <p:txBody>
          <a:bodyPr wrap="square">
            <a:spAutoFit/>
          </a:bodyPr>
          <a:lstStyle/>
          <a:p>
            <a:pPr>
              <a:defRPr sz="1800" b="1">
                <a:solidFill>
                  <a:srgbClr val="DC2626"/>
                </a:solidFill>
              </a:defRPr>
            </a:pPr>
            <a:r>
              <a:t>Inadecuación de K-Means en este Dominio</a:t>
            </a:r>
          </a:p>
          <a:p>
            <a:pPr>
              <a:spcAft>
                <a:spcPts val="800"/>
              </a:spcAft>
              <a:defRPr sz="1300">
                <a:solidFill>
                  <a:srgbClr val="1E293B"/>
                </a:solidFill>
              </a:defRPr>
            </a:pPr>
            <a:r>
              <a:t>• Hipótesis de isodispersión: K-Means asume clusters esféricos de varianza similar. En nuestro problema, los metales forman un grupo ultra compacto y los aislantes un grupo muy disperso.</a:t>
            </a:r>
          </a:p>
          <a:p>
            <a:pPr>
              <a:spcAft>
                <a:spcPts val="800"/>
              </a:spcAft>
              <a:defRPr sz="1300">
                <a:solidFill>
                  <a:srgbClr val="1E293B"/>
                </a:solidFill>
              </a:defRPr>
            </a:pPr>
            <a:r>
              <a:t>• Fusión o fractura indebida: K-Means tiende a partir en dos el grupo amplio de aislantes o a absorber indebidamente los semiconductores.</a:t>
            </a:r>
          </a:p>
          <a:p>
            <a:pPr>
              <a:spcAft>
                <a:spcPts val="800"/>
              </a:spcAft>
              <a:defRPr sz="1300">
                <a:solidFill>
                  <a:srgbClr val="1E293B"/>
                </a:solidFill>
              </a:defRPr>
            </a:pPr>
            <a:r>
              <a:t>• Obliga a prefijar k: Exige imponer a priori k = 3 sin saber de antemano si los datos revelan 2, 3 o 4 grupos.</a:t>
            </a:r>
          </a:p>
          <a:p>
            <a:pPr>
              <a:spcAft>
                <a:spcPts val="800"/>
              </a:spcAft>
              <a:defRPr sz="1300">
                <a:solidFill>
                  <a:srgbClr val="1E293B"/>
                </a:solidFill>
              </a:defRPr>
            </a:pPr>
            <a:r>
              <a:t>• Sensibilidad extrema a anomalías: Obliga a cada punto atípico a pertenecer a un cluster, distorsionando los centroides.</a:t>
            </a:r>
          </a:p>
        </p:txBody>
      </p:sp>
      <p:sp>
        <p:nvSpPr>
          <p:cNvPr id="7" name="Rounded Rectangle 6"/>
          <p:cNvSpPr/>
          <p:nvPr/>
        </p:nvSpPr>
        <p:spPr>
          <a:xfrm>
            <a:off x="6217920" y="1645920"/>
            <a:ext cx="5212080" cy="45720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828800"/>
            <a:ext cx="4663440" cy="4206240"/>
          </a:xfrm>
          <a:prstGeom prst="rect">
            <a:avLst/>
          </a:prstGeom>
          <a:noFill/>
        </p:spPr>
        <p:txBody>
          <a:bodyPr wrap="square">
            <a:spAutoFit/>
          </a:bodyPr>
          <a:lstStyle/>
          <a:p>
            <a:pPr>
              <a:defRPr sz="1800" b="1">
                <a:solidFill>
                  <a:srgbClr val="059669"/>
                </a:solidFill>
              </a:defRPr>
            </a:pPr>
            <a:r>
              <a:t>Ventajas Determinantes de DBSCAN</a:t>
            </a:r>
          </a:p>
          <a:p>
            <a:pPr>
              <a:spcAft>
                <a:spcPts val="800"/>
              </a:spcAft>
              <a:defRPr sz="1300">
                <a:solidFill>
                  <a:srgbClr val="1E293B"/>
                </a:solidFill>
              </a:defRPr>
            </a:pPr>
            <a:r>
              <a:t>• Conectividad por densidad: Descubre clusters conectando puntos núcleo a través de regiones de alta densidad continua, sin importar la forma.</a:t>
            </a:r>
          </a:p>
          <a:p>
            <a:pPr>
              <a:spcAft>
                <a:spcPts val="800"/>
              </a:spcAft>
              <a:defRPr sz="1300">
                <a:solidFill>
                  <a:srgbClr val="1E293B"/>
                </a:solidFill>
              </a:defRPr>
            </a:pPr>
            <a:r>
              <a:t>• Robusto a densidades dispares: Respeta que un cluster sea hiperdenso (metales) y otro más laxo siempre que superen el umbral mínimo local.</a:t>
            </a:r>
          </a:p>
          <a:p>
            <a:pPr>
              <a:spcAft>
                <a:spcPts val="800"/>
              </a:spcAft>
              <a:defRPr sz="1300">
                <a:solidFill>
                  <a:srgbClr val="1E293B"/>
                </a:solidFill>
              </a:defRPr>
            </a:pPr>
            <a:r>
              <a:t>• Descubrimiento autónomo de grupos: Encuentra el número de clusters sin prefijar k.</a:t>
            </a:r>
          </a:p>
          <a:p>
            <a:pPr>
              <a:spcAft>
                <a:spcPts val="800"/>
              </a:spcAft>
              <a:defRPr sz="1300">
                <a:solidFill>
                  <a:srgbClr val="1E293B"/>
                </a:solidFill>
              </a:defRPr>
            </a:pPr>
            <a:r>
              <a:t>• Etiquetado nativo de ruido (-1): Materiales exóticos o anisótropos (como el grafito) se aíslan de forma transparente sin ensuciar las fases puras.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059669"/>
                </a:solidFill>
              </a:defRPr>
            </a:pPr>
            <a:r>
              <a:t>CPIA · APRENDIZAJE NO SUPERVISADO</a:t>
            </a:r>
          </a:p>
        </p:txBody>
      </p:sp>
      <p:sp>
        <p:nvSpPr>
          <p:cNvPr id="3" name="TextBox 2"/>
          <p:cNvSpPr txBox="1"/>
          <p:nvPr/>
        </p:nvSpPr>
        <p:spPr>
          <a:xfrm>
            <a:off x="731520" y="685800"/>
            <a:ext cx="10698480" cy="731520"/>
          </a:xfrm>
          <a:prstGeom prst="rect">
            <a:avLst/>
          </a:prstGeom>
          <a:noFill/>
        </p:spPr>
        <p:txBody>
          <a:bodyPr wrap="square">
            <a:spAutoFit/>
          </a:bodyPr>
          <a:lstStyle/>
          <a:p>
            <a:pPr>
              <a:defRPr sz="2400" b="1">
                <a:solidFill>
                  <a:srgbClr val="0F172A"/>
                </a:solidFill>
              </a:defRPr>
            </a:pPr>
            <a:r>
              <a:t>Metodología: Estandarización y Selección de Parámetros</a:t>
            </a:r>
          </a:p>
        </p:txBody>
      </p:sp>
      <p:sp>
        <p:nvSpPr>
          <p:cNvPr id="4" name="Rectangle 3"/>
          <p:cNvSpPr/>
          <p:nvPr/>
        </p:nvSpPr>
        <p:spPr>
          <a:xfrm>
            <a:off x="731520" y="1417320"/>
            <a:ext cx="10728655" cy="27432"/>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645920"/>
            <a:ext cx="5120640" cy="45720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28800"/>
            <a:ext cx="4572000" cy="4206240"/>
          </a:xfrm>
          <a:prstGeom prst="rect">
            <a:avLst/>
          </a:prstGeom>
          <a:noFill/>
        </p:spPr>
        <p:txBody>
          <a:bodyPr wrap="square">
            <a:spAutoFit/>
          </a:bodyPr>
          <a:lstStyle/>
          <a:p>
            <a:pPr>
              <a:defRPr sz="1800" b="1">
                <a:solidFill>
                  <a:srgbClr val="2563EB"/>
                </a:solidFill>
              </a:defRPr>
            </a:pPr>
            <a:r>
              <a:t>Estandarización Manual Z-Score</a:t>
            </a:r>
          </a:p>
          <a:p>
            <a:pPr>
              <a:spcAft>
                <a:spcPts val="800"/>
              </a:spcAft>
              <a:defRPr sz="1300">
                <a:solidFill>
                  <a:srgbClr val="1E293B"/>
                </a:solidFill>
              </a:defRPr>
            </a:pPr>
            <a:r>
              <a:t>• Métrica Euclídea: DBSCAN mide distancias d(p, q) = √[(Δx₁)² + (Δx₂)²].</a:t>
            </a:r>
          </a:p>
          <a:p>
            <a:pPr>
              <a:spcAft>
                <a:spcPts val="800"/>
              </a:spcAft>
              <a:defRPr sz="1300">
                <a:solidFill>
                  <a:srgbClr val="1E293B"/>
                </a:solidFill>
              </a:defRPr>
            </a:pPr>
            <a:r>
              <a:t>• El problema de escala: El rango de log₁₀ρ es ~31 unidades, mientras que el rango de α es ~0.08 unidades. Sin estandarizar, α sería invisible.</a:t>
            </a:r>
          </a:p>
          <a:p>
            <a:pPr>
              <a:spcAft>
                <a:spcPts val="800"/>
              </a:spcAft>
              <a:defRPr sz="1300">
                <a:solidFill>
                  <a:srgbClr val="1E293B"/>
                </a:solidFill>
              </a:defRPr>
            </a:pPr>
            <a:r>
              <a:t>• Fórmula implementada manualmente: Calculamos la media μ y desviación estándar σ vectorialmente con NumPy:</a:t>
            </a:r>
          </a:p>
          <a:p>
            <a:pPr>
              <a:spcAft>
                <a:spcPts val="800"/>
              </a:spcAft>
              <a:defRPr sz="1300">
                <a:solidFill>
                  <a:srgbClr val="1E293B"/>
                </a:solidFill>
              </a:defRPr>
            </a:pPr>
            <a:r>
              <a:t>• Z = (X - μ) / σ Ambas dimensiones quedan con media 0 y varianza 1. La métrica pondera por igual la resistividad y el signo térmico cuántico.</a:t>
            </a:r>
          </a:p>
        </p:txBody>
      </p:sp>
      <p:sp>
        <p:nvSpPr>
          <p:cNvPr id="7" name="Rounded Rectangle 6"/>
          <p:cNvSpPr/>
          <p:nvPr/>
        </p:nvSpPr>
        <p:spPr>
          <a:xfrm>
            <a:off x="6217920" y="1645920"/>
            <a:ext cx="5212080" cy="45720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828800"/>
            <a:ext cx="4663440" cy="4206240"/>
          </a:xfrm>
          <a:prstGeom prst="rect">
            <a:avLst/>
          </a:prstGeom>
          <a:noFill/>
        </p:spPr>
        <p:txBody>
          <a:bodyPr wrap="square">
            <a:spAutoFit/>
          </a:bodyPr>
          <a:lstStyle/>
          <a:p>
            <a:pPr>
              <a:defRPr sz="1800" b="1">
                <a:solidFill>
                  <a:srgbClr val="059669"/>
                </a:solidFill>
              </a:defRPr>
            </a:pPr>
            <a:r>
              <a:t>Justificación Objetiva de Parámetros</a:t>
            </a:r>
          </a:p>
          <a:p>
            <a:pPr>
              <a:spcAft>
                <a:spcPts val="800"/>
              </a:spcAft>
              <a:defRPr sz="1300">
                <a:solidFill>
                  <a:srgbClr val="1E293B"/>
                </a:solidFill>
              </a:defRPr>
            </a:pPr>
            <a:r>
              <a:t>• Umbral min_samples = 3: Siguiendo la regla canónica de Schubert et al.: para d = 2 dimensiones, min_samples ≥ d + 1. Fija el mínimo para considerar densidad significativa.</a:t>
            </a:r>
          </a:p>
          <a:p>
            <a:pPr>
              <a:spcAft>
                <a:spcPts val="800"/>
              </a:spcAft>
              <a:defRPr sz="1300">
                <a:solidFill>
                  <a:srgbClr val="1E293B"/>
                </a:solidFill>
              </a:defRPr>
            </a:pPr>
            <a:r>
              <a:t>• Radio epsilon (ε = 0.65): Determinado analíticamente mediante la gráfica de distancias k-NN (método del codo) y validado con Silhouette Score.</a:t>
            </a:r>
          </a:p>
          <a:p>
            <a:pPr>
              <a:spcAft>
                <a:spcPts val="800"/>
              </a:spcAft>
              <a:defRPr sz="1300">
                <a:solidFill>
                  <a:srgbClr val="1E293B"/>
                </a:solidFill>
              </a:defRPr>
            </a:pPr>
            <a:r>
              <a:t>• Comportamiento físico de ε = 0.65: Suficientemente grande para abarcar la dispersión de los aislantes, pero suficientemente estricto para evitar que los semiconductores se fusionen con los metales.</a:t>
            </a:r>
          </a:p>
          <a:p>
            <a:pPr>
              <a:spcAft>
                <a:spcPts val="800"/>
              </a:spcAft>
              <a:defRPr sz="1300">
                <a:solidFill>
                  <a:srgbClr val="1E293B"/>
                </a:solidFill>
              </a:defRPr>
            </a:pPr>
            <a:r>
              <a:t>• Implementación: Ejecutado directamente con el algoritmo oficial de scikit-learn: DBSCAN(eps=0.65, min_samples=3).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059669"/>
                </a:solidFill>
              </a:defRPr>
            </a:pPr>
            <a:r>
              <a:t>CPIA · APRENDIZAJE NO SUPERVISADO</a:t>
            </a:r>
          </a:p>
        </p:txBody>
      </p:sp>
      <p:sp>
        <p:nvSpPr>
          <p:cNvPr id="3" name="TextBox 2"/>
          <p:cNvSpPr txBox="1"/>
          <p:nvPr/>
        </p:nvSpPr>
        <p:spPr>
          <a:xfrm>
            <a:off x="731520" y="685800"/>
            <a:ext cx="10698480" cy="731520"/>
          </a:xfrm>
          <a:prstGeom prst="rect">
            <a:avLst/>
          </a:prstGeom>
          <a:noFill/>
        </p:spPr>
        <p:txBody>
          <a:bodyPr wrap="square">
            <a:spAutoFit/>
          </a:bodyPr>
          <a:lstStyle/>
          <a:p>
            <a:pPr>
              <a:defRPr sz="2400" b="1">
                <a:solidFill>
                  <a:srgbClr val="0F172A"/>
                </a:solidFill>
              </a:defRPr>
            </a:pPr>
            <a:r>
              <a:t>Resultados Experimentales: Clasificación 2D</a:t>
            </a:r>
          </a:p>
        </p:txBody>
      </p:sp>
      <p:sp>
        <p:nvSpPr>
          <p:cNvPr id="4" name="Rectangle 3"/>
          <p:cNvSpPr/>
          <p:nvPr/>
        </p:nvSpPr>
        <p:spPr>
          <a:xfrm>
            <a:off x="731520" y="1417320"/>
            <a:ext cx="10728655" cy="27432"/>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645920"/>
            <a:ext cx="4389120" cy="45720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28800"/>
            <a:ext cx="4023360" cy="4206240"/>
          </a:xfrm>
          <a:prstGeom prst="rect">
            <a:avLst/>
          </a:prstGeom>
          <a:noFill/>
        </p:spPr>
        <p:txBody>
          <a:bodyPr wrap="square">
            <a:spAutoFit/>
          </a:bodyPr>
          <a:lstStyle/>
          <a:p>
            <a:pPr>
              <a:defRPr sz="1800" b="1">
                <a:solidFill>
                  <a:srgbClr val="0F172A"/>
                </a:solidFill>
              </a:defRPr>
            </a:pPr>
            <a:r>
              <a:t>3 Clusters Descubiertos</a:t>
            </a:r>
          </a:p>
          <a:p>
            <a:pPr>
              <a:spcAft>
                <a:spcPts val="600"/>
              </a:spcAft>
              <a:defRPr sz="1200">
                <a:solidFill>
                  <a:srgbClr val="1E293B"/>
                </a:solidFill>
              </a:defRPr>
            </a:pPr>
            <a:r>
              <a:t>• Cluster 0 (Ámbar): Conductores (35 metales). Cobre, Plata, Oro, Aluminio... α &gt; 0, resistividad muy baja.</a:t>
            </a:r>
          </a:p>
          <a:p>
            <a:pPr>
              <a:spcAft>
                <a:spcPts val="600"/>
              </a:spcAft>
              <a:defRPr sz="1200">
                <a:solidFill>
                  <a:srgbClr val="1E293B"/>
                </a:solidFill>
              </a:defRPr>
            </a:pPr>
            <a:r>
              <a:t>• Cluster 1 (Azul): Aislantes (10 dieléctricos). Vidrio, Teflón, Cuarzo, PET... α ≈ 0, resistividades colosales (&gt; 10¹¹ Ω·m).</a:t>
            </a:r>
          </a:p>
          <a:p>
            <a:pPr>
              <a:spcAft>
                <a:spcPts val="600"/>
              </a:spcAft>
              <a:defRPr sz="1200">
                <a:solidFill>
                  <a:srgbClr val="1E293B"/>
                </a:solidFill>
              </a:defRPr>
            </a:pPr>
            <a:r>
              <a:t>• Cluster 2 (Verde): Semiconductores (10 materiales). Silicio, Germanio, GaAs, InP... Perfectamente segregados por α fuertemente negativo.</a:t>
            </a:r>
          </a:p>
          <a:p>
            <a:pPr>
              <a:spcAft>
                <a:spcPts val="600"/>
              </a:spcAft>
              <a:defRPr sz="1200">
                <a:solidFill>
                  <a:srgbClr val="1E293B"/>
                </a:solidFill>
              </a:defRPr>
            </a:pPr>
            <a:r>
              <a:t>• Frontera α = 0: La línea discontinua marca la transición física de fonones a generación térmica.</a:t>
            </a:r>
          </a:p>
        </p:txBody>
      </p:sp>
      <p:pic>
        <p:nvPicPr>
          <p:cNvPr id="7" name="Picture 6" descr="clusters_materiales_dbscan.png"/>
          <p:cNvPicPr>
            <a:picLocks noChangeAspect="1"/>
          </p:cNvPicPr>
          <p:nvPr/>
        </p:nvPicPr>
        <p:blipFill>
          <a:blip r:embed="rId2"/>
          <a:stretch>
            <a:fillRect/>
          </a:stretch>
        </p:blipFill>
        <p:spPr>
          <a:xfrm>
            <a:off x="5303520" y="1645920"/>
            <a:ext cx="6126480" cy="3982212"/>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059669"/>
                </a:solidFill>
              </a:defRPr>
            </a:pPr>
            <a:r>
              <a:t>CPIA · APRENDIZAJE NO SUPERVISADO</a:t>
            </a:r>
          </a:p>
        </p:txBody>
      </p:sp>
      <p:sp>
        <p:nvSpPr>
          <p:cNvPr id="3" name="TextBox 2"/>
          <p:cNvSpPr txBox="1"/>
          <p:nvPr/>
        </p:nvSpPr>
        <p:spPr>
          <a:xfrm>
            <a:off x="731520" y="685800"/>
            <a:ext cx="10698480" cy="731520"/>
          </a:xfrm>
          <a:prstGeom prst="rect">
            <a:avLst/>
          </a:prstGeom>
          <a:noFill/>
        </p:spPr>
        <p:txBody>
          <a:bodyPr wrap="square">
            <a:spAutoFit/>
          </a:bodyPr>
          <a:lstStyle/>
          <a:p>
            <a:pPr>
              <a:defRPr sz="2400" b="1">
                <a:solidFill>
                  <a:srgbClr val="0F172A"/>
                </a:solidFill>
              </a:defRPr>
            </a:pPr>
            <a:r>
              <a:t>Validación Cuantitativa y Matriz de Contingencia</a:t>
            </a:r>
          </a:p>
        </p:txBody>
      </p:sp>
      <p:sp>
        <p:nvSpPr>
          <p:cNvPr id="4" name="Rectangle 3"/>
          <p:cNvSpPr/>
          <p:nvPr/>
        </p:nvSpPr>
        <p:spPr>
          <a:xfrm>
            <a:off x="731520" y="1417320"/>
            <a:ext cx="10728655" cy="27432"/>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645920"/>
            <a:ext cx="5120640" cy="45720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28800"/>
            <a:ext cx="4572000" cy="4206240"/>
          </a:xfrm>
          <a:prstGeom prst="rect">
            <a:avLst/>
          </a:prstGeom>
          <a:noFill/>
        </p:spPr>
        <p:txBody>
          <a:bodyPr wrap="square">
            <a:spAutoFit/>
          </a:bodyPr>
          <a:lstStyle/>
          <a:p>
            <a:pPr>
              <a:defRPr sz="1700" b="1">
                <a:solidFill>
                  <a:srgbClr val="2563EB"/>
                </a:solidFill>
              </a:defRPr>
            </a:pPr>
            <a:r>
              <a:t>Matriz de Contingencia (Física vs DBSCAN)</a:t>
            </a:r>
          </a:p>
          <a:p>
            <a:pPr>
              <a:spcAft>
                <a:spcPts val="600"/>
              </a:spcAft>
              <a:defRPr sz="1250">
                <a:solidFill>
                  <a:srgbClr val="1E293B"/>
                </a:solidFill>
              </a:defRPr>
            </a:pPr>
            <a:r>
              <a:t>• Aislantes reales (10): 10 asignados al Cluster 1 (100 % de pureza). Cero falsos positivos.</a:t>
            </a:r>
          </a:p>
          <a:p>
            <a:pPr>
              <a:spcAft>
                <a:spcPts val="600"/>
              </a:spcAft>
              <a:defRPr sz="1250">
                <a:solidFill>
                  <a:srgbClr val="1E293B"/>
                </a:solidFill>
              </a:defRPr>
            </a:pPr>
            <a:r>
              <a:t>• Conductores reales (35): 35 asignados al Cluster 0 (100 % de pureza). Todos los metales recuperados.</a:t>
            </a:r>
          </a:p>
          <a:p>
            <a:pPr>
              <a:spcAft>
                <a:spcPts val="600"/>
              </a:spcAft>
              <a:defRPr sz="1250">
                <a:solidFill>
                  <a:srgbClr val="1E293B"/>
                </a:solidFill>
              </a:defRPr>
            </a:pPr>
            <a:r>
              <a:t>• Semiconductores reales (12): 10 asignados al Cluster 2 (los semiconductores tecnológicos puros).</a:t>
            </a:r>
          </a:p>
          <a:p>
            <a:pPr>
              <a:spcAft>
                <a:spcPts val="600"/>
              </a:spcAft>
              <a:defRPr sz="1250">
                <a:solidFill>
                  <a:srgbClr val="1E293B"/>
                </a:solidFill>
              </a:defRPr>
            </a:pPr>
            <a:r>
              <a:t>• Casos de frontera (2): El grafito y un semimetal con comportamiento resistivo casi metálico a 300 K se unieron al cluster 0 por densidad.</a:t>
            </a:r>
          </a:p>
          <a:p>
            <a:pPr>
              <a:spcAft>
                <a:spcPts val="600"/>
              </a:spcAft>
              <a:defRPr sz="1250">
                <a:solidFill>
                  <a:srgbClr val="1E293B"/>
                </a:solidFill>
              </a:defRPr>
            </a:pPr>
            <a:r>
              <a:t>• Ruido detectado: 0 materiales aislados; los 57 puntos forman núcleos cohesionados.</a:t>
            </a:r>
          </a:p>
        </p:txBody>
      </p:sp>
      <p:sp>
        <p:nvSpPr>
          <p:cNvPr id="7" name="Rounded Rectangle 6"/>
          <p:cNvSpPr/>
          <p:nvPr/>
        </p:nvSpPr>
        <p:spPr>
          <a:xfrm>
            <a:off x="6217920" y="1645920"/>
            <a:ext cx="5212080" cy="45720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828800"/>
            <a:ext cx="4663440" cy="4206240"/>
          </a:xfrm>
          <a:prstGeom prst="rect">
            <a:avLst/>
          </a:prstGeom>
          <a:noFill/>
        </p:spPr>
        <p:txBody>
          <a:bodyPr wrap="square">
            <a:spAutoFit/>
          </a:bodyPr>
          <a:lstStyle/>
          <a:p>
            <a:pPr>
              <a:defRPr sz="1700" b="1">
                <a:solidFill>
                  <a:srgbClr val="059669"/>
                </a:solidFill>
              </a:defRPr>
            </a:pPr>
            <a:r>
              <a:t>Métrica de Calidad: Silhouette Score</a:t>
            </a:r>
          </a:p>
          <a:p>
            <a:pPr>
              <a:spcAft>
                <a:spcPts val="800"/>
              </a:spcAft>
              <a:defRPr sz="2200" b="1">
                <a:solidFill>
                  <a:srgbClr val="059669"/>
                </a:solidFill>
              </a:defRPr>
            </a:pPr>
            <a:r>
              <a:t>Silhouette Score = 0.7858</a:t>
            </a:r>
          </a:p>
          <a:p>
            <a:pPr>
              <a:spcAft>
                <a:spcPts val="600"/>
              </a:spcAft>
              <a:defRPr sz="1250">
                <a:solidFill>
                  <a:srgbClr val="1E293B"/>
                </a:solidFill>
              </a:defRPr>
            </a:pPr>
            <a:r>
              <a:t>• Significado matemático: Mide la distancia inter-cluster (b) frente a la dispersión intra-cluster (a): s = (b - a) / max(a, b).</a:t>
            </a:r>
          </a:p>
          <a:p>
            <a:pPr>
              <a:spcAft>
                <a:spcPts val="600"/>
              </a:spcAft>
              <a:defRPr sz="1250">
                <a:solidFill>
                  <a:srgbClr val="1E293B"/>
                </a:solidFill>
              </a:defRPr>
            </a:pPr>
            <a:r>
              <a:t>• Escala de interpretación: Un valor de 0.7858 (muy cercano a 1.0) certifica una estructura de agrupamiento 'fuerte y robusta' en la literatura científica.</a:t>
            </a:r>
          </a:p>
          <a:p>
            <a:pPr>
              <a:spcAft>
                <a:spcPts val="600"/>
              </a:spcAft>
              <a:defRPr sz="1250">
                <a:solidFill>
                  <a:srgbClr val="1E293B"/>
                </a:solidFill>
              </a:defRPr>
            </a:pPr>
            <a:r>
              <a:t>• Independencia: La silueta evalúa los grupos sin usar etiquetas reales, confirmando la validez no supervisada.</a:t>
            </a:r>
          </a:p>
          <a:p>
            <a:pPr>
              <a:spcAft>
                <a:spcPts val="600"/>
              </a:spcAft>
              <a:defRPr sz="1250">
                <a:solidFill>
                  <a:srgbClr val="1E293B"/>
                </a:solidFill>
              </a:defRPr>
            </a:pPr>
            <a:r>
              <a:t>• Conclusión de calidad: La separación entre aislantes, conductores y semiconductores es matemáticamente contundente.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059669"/>
                </a:solidFill>
              </a:defRPr>
            </a:pPr>
            <a:r>
              <a:t>CPIA · APRENDIZAJE NO SUPERVISADO</a:t>
            </a:r>
          </a:p>
        </p:txBody>
      </p:sp>
      <p:sp>
        <p:nvSpPr>
          <p:cNvPr id="3" name="TextBox 2"/>
          <p:cNvSpPr txBox="1"/>
          <p:nvPr/>
        </p:nvSpPr>
        <p:spPr>
          <a:xfrm>
            <a:off x="731520" y="685800"/>
            <a:ext cx="10698480" cy="731520"/>
          </a:xfrm>
          <a:prstGeom prst="rect">
            <a:avLst/>
          </a:prstGeom>
          <a:noFill/>
        </p:spPr>
        <p:txBody>
          <a:bodyPr wrap="square">
            <a:spAutoFit/>
          </a:bodyPr>
          <a:lstStyle/>
          <a:p>
            <a:pPr>
              <a:defRPr sz="2400" b="1">
                <a:solidFill>
                  <a:srgbClr val="0F172A"/>
                </a:solidFill>
              </a:defRPr>
            </a:pPr>
            <a:r>
              <a:t>Conclusiones y Defensa ante Preguntas del Tribunal</a:t>
            </a:r>
          </a:p>
        </p:txBody>
      </p:sp>
      <p:sp>
        <p:nvSpPr>
          <p:cNvPr id="4" name="Rectangle 3"/>
          <p:cNvSpPr/>
          <p:nvPr/>
        </p:nvSpPr>
        <p:spPr>
          <a:xfrm>
            <a:off x="731520" y="1417320"/>
            <a:ext cx="10728655" cy="27432"/>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645920"/>
            <a:ext cx="5120640" cy="45720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28800"/>
            <a:ext cx="4572000" cy="4206240"/>
          </a:xfrm>
          <a:prstGeom prst="rect">
            <a:avLst/>
          </a:prstGeom>
          <a:noFill/>
        </p:spPr>
        <p:txBody>
          <a:bodyPr wrap="square">
            <a:spAutoFit/>
          </a:bodyPr>
          <a:lstStyle/>
          <a:p>
            <a:pPr>
              <a:defRPr sz="1800" b="1">
                <a:solidFill>
                  <a:srgbClr val="0F172A"/>
                </a:solidFill>
              </a:defRPr>
            </a:pPr>
            <a:r>
              <a:t>Conclusiones Principales</a:t>
            </a:r>
          </a:p>
          <a:p>
            <a:pPr>
              <a:spcAft>
                <a:spcPts val="1000"/>
              </a:spcAft>
              <a:defRPr sz="1300">
                <a:solidFill>
                  <a:srgbClr val="1E293B"/>
                </a:solidFill>
              </a:defRPr>
            </a:pPr>
            <a:r>
              <a:t>• Validación física del clustering: DBSCAN ha demostrado ser capaz de inferir la física cuántica de bandas únicamente a partir de la densidad en datos experimentales macroscópicos.</a:t>
            </a:r>
          </a:p>
          <a:p>
            <a:pPr>
              <a:spcAft>
                <a:spcPts val="1000"/>
              </a:spcAft>
              <a:defRPr sz="1300">
                <a:solidFill>
                  <a:srgbClr val="1E293B"/>
                </a:solidFill>
              </a:defRPr>
            </a:pPr>
            <a:r>
              <a:t>• Superioridad frente a métodos rígidos: La capacidad de manejar varianzas dispares permitió agrupar metales hiperdensos y aislantes extendidos en el mismo modelo.</a:t>
            </a:r>
          </a:p>
          <a:p>
            <a:pPr>
              <a:spcAft>
                <a:spcPts val="1000"/>
              </a:spcAft>
              <a:defRPr sz="1300">
                <a:solidFill>
                  <a:srgbClr val="1E293B"/>
                </a:solidFill>
              </a:defRPr>
            </a:pPr>
            <a:r>
              <a:t>• Pipeline limpio y reproducible: Estandarización manual rigurosa, ejecución nativa con scikit-learn y reproducibilidad total en GitHub.</a:t>
            </a:r>
          </a:p>
        </p:txBody>
      </p:sp>
      <p:sp>
        <p:nvSpPr>
          <p:cNvPr id="7" name="Rounded Rectangle 6"/>
          <p:cNvSpPr/>
          <p:nvPr/>
        </p:nvSpPr>
        <p:spPr>
          <a:xfrm>
            <a:off x="6217920" y="1645920"/>
            <a:ext cx="5212080" cy="45720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828800"/>
            <a:ext cx="4663440" cy="4206240"/>
          </a:xfrm>
          <a:prstGeom prst="rect">
            <a:avLst/>
          </a:prstGeom>
          <a:noFill/>
        </p:spPr>
        <p:txBody>
          <a:bodyPr wrap="square">
            <a:spAutoFit/>
          </a:bodyPr>
          <a:lstStyle/>
          <a:p>
            <a:pPr>
              <a:defRPr sz="1800" b="1">
                <a:solidFill>
                  <a:srgbClr val="D97706"/>
                </a:solidFill>
              </a:defRPr>
            </a:pPr>
            <a:r>
              <a:t>Preguntas Probables del Tribunal</a:t>
            </a:r>
          </a:p>
          <a:p>
            <a:pPr>
              <a:spcAft>
                <a:spcPts val="600"/>
              </a:spcAft>
              <a:defRPr sz="1200">
                <a:solidFill>
                  <a:srgbClr val="1E293B"/>
                </a:solidFill>
              </a:defRPr>
            </a:pPr>
            <a:r>
              <a:t>• ¿Qué ocurre si variamos epsilon (ε)? Si ε &lt; 0.4, el cluster de aislantes se fragmenta en pedazos y aparece ruido. Si ε &gt; 1.0, los semiconductores se fusionan con los metales en un único macro-cluster.</a:t>
            </a:r>
          </a:p>
          <a:p>
            <a:pPr>
              <a:spcAft>
                <a:spcPts val="600"/>
              </a:spcAft>
              <a:defRPr sz="1200">
                <a:solidFill>
                  <a:srgbClr val="1E293B"/>
                </a:solidFill>
              </a:defRPr>
            </a:pPr>
            <a:r>
              <a:t>• ¿Por qué no usar conductividad σ directa? Porque la escala lineal colapsa el 99% de los puntos en el origen (0 S/m). La escala logarítmica es la única físicamente sensata.</a:t>
            </a:r>
          </a:p>
          <a:p>
            <a:pPr>
              <a:spcAft>
                <a:spcPts val="600"/>
              </a:spcAft>
              <a:defRPr sz="1200">
                <a:solidFill>
                  <a:srgbClr val="1E293B"/>
                </a:solidFill>
              </a:defRPr>
            </a:pPr>
            <a:r>
              <a:t>• ¿Se podría aplicar a superconductores? A temperaturas críticas Tc, ρ cae a cero exacto, generando una singularidad logarítmica que requeriría tratar la transición de fase como un estado límite.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