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 tribunal y compañeros. Soy Uriel y presento la clasificación no supervisada de materiales eléctricos con DBSCAN.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2:</a:t>
            </a:r>
          </a:p>
          <a:p>
            <a:r>
              <a:t>Definimos el problema físico a partir de las ecuaciones de transporte en LaTeX:</a:t>
            </a:r>
          </a:p>
          <a:p>
            <a:r>
              <a:t>- La variación térmica de la resistividad rho(T) y su derivada térmica alfa.</a:t>
            </a:r>
          </a:p>
          <a:p>
            <a:r>
              <a:t>- Metales: bandas solapadas, electrones libres, alfa positivo por choques con fonones de la red.</a:t>
            </a:r>
          </a:p>
          <a:p>
            <a:r>
              <a:t>- Semiconductores: bandgap moderado, alfa negativo por activación térmica exponencial según Boltzmann.</a:t>
            </a:r>
          </a:p>
          <a:p>
            <a:r>
              <a:t>- Aislantes: bandgap colosal (&gt; 5 eV), sin portadores libres a 300 K, alfa nulo y resistividad gigantesca.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3:</a:t>
            </a:r>
          </a:p>
          <a:p>
            <a:r>
              <a:t>Disponemos de 57 materiales reales en el dataset.</a:t>
            </a:r>
          </a:p>
          <a:p>
            <a:r>
              <a:t>Como se aprecia en el gráfico comparativo: en escala lineal, el 99% de los materiales se aplasta en el cero. El logaritmo de resistividad es imprescindible para desplegar el espacio, y combinado con alfa crea un plano perfecto para el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4:</a:t>
            </a:r>
          </a:p>
          <a:p>
            <a:r>
              <a:t>Pregunta clave: ¿por qué DBSCAN y no K-Means?</a:t>
            </a:r>
          </a:p>
          <a:p>
            <a:r>
              <a:t>En el gráfico de la derecha se ve claro: K-Means impone fronteras esféricas forzadas. Al tener metales ultra concentrados y aislantes dispersos, K-Means falla. DBSCAN sigue los caminos de densidad natural y aísla puntos atípicos como ruido.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5:</a:t>
            </a:r>
          </a:p>
          <a:p>
            <a:r>
              <a:t>En metodología: fórmulas en LaTeX claras y limpias.</a:t>
            </a:r>
          </a:p>
          <a:p>
            <a:r>
              <a:t>1. Escalado Z-Score manual con NumPy para igualar varianzas.</a:t>
            </a:r>
          </a:p>
          <a:p>
            <a:r>
              <a:t>2. Criterio de núcleo de DBSCAN: puntos con al menos min_samples vecinos en radio épsilon.</a:t>
            </a:r>
          </a:p>
          <a:p>
            <a:r>
              <a:t>3. Hiperparámetros fijados rigurosamente: min_samples=3 (dimensión + 1) y épsilon=0.65 obtenido por el codo k-NN.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6:</a:t>
            </a:r>
          </a:p>
          <a:p>
            <a:r>
              <a:t>Este es el resultado gráfico final en pantalla grande:</a:t>
            </a:r>
          </a:p>
          <a:p>
            <a:r>
              <a:t>- Cluster 0 (ámbar): Metales conductores (Cu, Ag, Au, Al) concentrados arriba a la izquierda con alfa &gt; 0.</a:t>
            </a:r>
          </a:p>
          <a:p>
            <a:r>
              <a:t>- Cluster 1 (azul): Aislantes dieléctricos (Vidrio, Cuarzo, Teflón) a la derecha con alfa centrado en cero.</a:t>
            </a:r>
          </a:p>
          <a:p>
            <a:r>
              <a:t>- Cluster 2 (verde): Semiconductores (Silicio, Germanio, GaAs) abajo, claramente separados por alfa fuertemente negativo.</a:t>
            </a:r>
          </a:p>
          <a:p>
            <a:r>
              <a:t>La línea horizontal de alfa = 0 marca la división física fundamental entre choques de fonones y generación térmica de portadores.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7:</a:t>
            </a:r>
          </a:p>
          <a:p>
            <a:r>
              <a:t>En cuanto a validación, la prueba reina es la Matriz de Contingencia Física:</a:t>
            </a:r>
          </a:p>
          <a:p>
            <a:r>
              <a:t>- 100% de pureza en conductores (35 de 35 metales en cluster 0).</a:t>
            </a:r>
          </a:p>
          <a:p>
            <a:r>
              <a:t>- 100% de pureza en aislantes (10 de 10 dieléctricos en cluster 1).</a:t>
            </a:r>
          </a:p>
          <a:p>
            <a:r>
              <a:t>- En semiconductores, los 10 materiales tecnológicos puros forman el cluster 2. Los dos restantes son semimetales cuyo transporte a 300 K es prácticamente metálico.</a:t>
            </a:r>
          </a:p>
          <a:p>
            <a:r>
              <a:t>Y como métrica matemática complementaria, la fórmula en LaTeX de Silhouette Score arroja 0.7858.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8:</a:t>
            </a:r>
          </a:p>
          <a:p>
            <a:r>
              <a:t>Para concluir:</a:t>
            </a:r>
          </a:p>
          <a:p>
            <a:r>
              <a:t>1. DBSCAN demuestra que la densidad espacial macroscópica refleja con total fidelidad la física cuántica de bandas.</a:t>
            </a:r>
          </a:p>
          <a:p>
            <a:r>
              <a:t>2. Ha demostrado ser la herramienta correcta frente a K-Means al tolerar densidades desiguales.</a:t>
            </a:r>
          </a:p>
          <a:p>
            <a:r>
              <a:t>3. Con solo dos variables físicas y una estandarización rigurosa, se obtiene una pureza del 100% en conductores y aislantes.</a:t>
            </a:r>
          </a:p>
          <a:p>
            <a:r>
              <a:t>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CPIA · APRENDIZAJE NO SUPERVISADO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t>Clasificación de Materiales Eléctricos mediante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000000"/>
                </a:solidFill>
              </a:defRPr>
            </a:pPr>
            <a:r>
              <a:t>Descubrimiento No Supervisado de Fases Cuánticas (Conductores, Semiconductores y Aislantes)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Uriel · Grado en Ingeniería Física (UPC)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r>
              <a:t>Equipo: 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</a:defRPr>
            </a:pPr>
            <a: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</a:defRPr>
            </a:pPr>
            <a:r>
              <a:t>El Problema Físico: Estructura de Bandas y Firmas Térmicas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10728655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0000"/>
                </a:solidFill>
              </a:defRPr>
            </a:pPr>
            <a:r>
              <a:t>Ecuaciones Macroscópicas de Transporte Eléctrico:</a:t>
            </a:r>
          </a:p>
        </p:txBody>
      </p:sp>
      <p:pic>
        <p:nvPicPr>
          <p:cNvPr id="6" name="Picture 5" descr="formula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783080"/>
            <a:ext cx="8869680" cy="1424232"/>
          </a:xfrm>
          <a:prstGeom prst="rect">
            <a:avLst/>
          </a:prstGeom>
        </p:spPr>
      </p:pic>
      <p:pic>
        <p:nvPicPr>
          <p:cNvPr id="7" name="Picture 6" descr="esquema_bandas_materi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88920"/>
            <a:ext cx="10728655" cy="4019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</a:defRPr>
            </a:pPr>
            <a: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</a:defRPr>
            </a:pPr>
            <a:r>
              <a:t>Dataset Experimental y Espacio de Trabajo (log₁₀ρ, α)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0000"/>
                </a:solidFill>
              </a:defRPr>
            </a:pPr>
            <a:r>
              <a:t>¿Cómo clasificar sin etiquetas?</a:t>
            </a:r>
          </a:p>
        </p:txBody>
      </p:sp>
      <p:pic>
        <p:nvPicPr>
          <p:cNvPr id="6" name="Picture 5" descr="formula_coorden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749039" cy="670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</a:defRPr>
            </a:pPr>
            <a:r>
              <a:t>• 57 Materiales reales: Metales puros, aleaciones, semiconductores y dieléctricos.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</a:defRPr>
            </a:pPr>
            <a:r>
              <a:t>• 30 órdenes de magnitud: De conductores (~10⁻⁸ Ω·m) a teflón (&gt; 10²² Ω·m).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</a:defRPr>
            </a:pPr>
            <a:r>
              <a:t>• Compresión logarítmica: Evita el colapso numérico en el origen.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</a:defRPr>
            </a:pPr>
            <a:r>
              <a:t>• Firma cuántica: α delata el origen microscópico del transporte.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</a:defRPr>
            </a:pPr>
            <a:r>
              <a:t>• Objetivo no supervisado: Descubrir las clases automáticamente por densidad.</a:t>
            </a:r>
          </a:p>
        </p:txBody>
      </p:sp>
      <p:pic>
        <p:nvPicPr>
          <p:cNvPr id="8" name="Picture 7" descr="distribucion_escala_r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737360"/>
            <a:ext cx="6309360" cy="23580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</a:defRPr>
            </a:pPr>
            <a: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</a:defRPr>
            </a:pPr>
            <a:r>
              <a:t>¿Por qué DBSCAN y no K-Means?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</a:defRPr>
            </a:pPr>
            <a:r>
              <a:t>K-Means (Inadecuado en este dominio)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✖  Asume grupos esféricos e isodensos (igual varianza).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✖  Fractura el grupo disperso de aislantes.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✖  Exige prefijar 'k' a priori de forma arbitraria.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✖  No detecta ruido: fuerza anomalías a tener cluster.</a:t>
            </a:r>
          </a:p>
          <a:p>
            <a:br/>
            <a:pPr>
              <a:defRPr sz="1500" b="1">
                <a:solidFill>
                  <a:srgbClr val="000000"/>
                </a:solidFill>
              </a:defRPr>
            </a:pPr>
            <a:r>
              <a:t>DBSCAN (Elección Óptima)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✔  Conecta por densidad local de cualquier forma.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✔  Tolera metales hiperdensos y aislantes laxos.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✔  Descubre el número de clusters sin prefijar k.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✔  Etiqueta ruido y anomalías de forma nativa (-1).</a:t>
            </a:r>
          </a:p>
        </p:txBody>
      </p:sp>
      <p:pic>
        <p:nvPicPr>
          <p:cNvPr id="6" name="Picture 5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25372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</a:defRPr>
            </a:pPr>
            <a: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</a:defRPr>
            </a:pPr>
            <a:r>
              <a:t>Metodología Matemática: Fórmulas y Parámetros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</a:defRPr>
            </a:pPr>
            <a:r>
              <a:t>1. Estandarización Z-Score</a:t>
            </a:r>
            <a:br/>
            <a:r>
              <a:t>(Implementada con NumPy)</a:t>
            </a:r>
          </a:p>
        </p:txBody>
      </p:sp>
      <p:pic>
        <p:nvPicPr>
          <p:cNvPr id="6" name="Picture 5" descr="formula_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063240" cy="555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μ = Media muestral por columna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σ = Desviación estándar típica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Resultado: Media = 0, Varianza = 1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Imprescindible: equipara el rango de log₁₀ρ (~31) con el de α (~0.08) para la distancia euclídea.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</a:defRPr>
            </a:pPr>
            <a:r>
              <a:t>2. Criterio de Núcleo</a:t>
            </a:r>
            <a:br/>
            <a:r>
              <a:t>(DBSCAN Espacial)</a:t>
            </a:r>
          </a:p>
        </p:txBody>
      </p:sp>
      <p:pic>
        <p:nvPicPr>
          <p:cNvPr id="10" name="Picture 9" descr="formula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31720"/>
            <a:ext cx="3063240" cy="55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• d(p, q) = Distancia Euclídea en 2D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• Punto Núcleo (Core Point):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•    |N_ε(p)| ≥ min_samples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• Punto Frontera (Border):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•    Alcanzable desde un núcleo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• Ruido (Noise):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</a:defRPr>
            </a:pPr>
            <a:r>
              <a:t>•    No alcanzable (|N_ε| &lt; min_samples)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</a:defRPr>
            </a:pPr>
            <a:r>
              <a:t>3. Parámetros Fijados</a:t>
            </a:r>
            <a:br/>
            <a:r>
              <a:t>(Criterio Objetivo)</a:t>
            </a:r>
          </a:p>
        </p:txBody>
      </p:sp>
      <p:pic>
        <p:nvPicPr>
          <p:cNvPr id="14" name="Picture 13" descr="formula_paramet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331720"/>
            <a:ext cx="3063240" cy="5217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min_samples = 3: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   Regla canónica k ≥ d + 1 (dimensión d = 2).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ε = 0.65: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   Determinado mediante gráfico k-NN (codo).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   Ventana óptima que aísla aislantes sin fusionar metales.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</a:defRPr>
            </a:pPr>
            <a:r>
              <a:t>• Ejecución: scikit-learn DBSCAN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</a:defRPr>
            </a:pPr>
            <a:r>
              <a:t>Resultado DBSCAN: Clasificación 2D de Materiales Eléctricos</a:t>
            </a:r>
          </a:p>
          <a:p>
            <a:pPr>
              <a:defRPr sz="1300">
                <a:solidFill>
                  <a:srgbClr val="000000"/>
                </a:solidFill>
              </a:defRPr>
            </a:pPr>
            <a:r>
              <a:t>ε = 0.65 · min_samples = 3  |  3 Clusters descubiertos  |  0 Ruido</a:t>
            </a:r>
          </a:p>
        </p:txBody>
      </p:sp>
      <p:pic>
        <p:nvPicPr>
          <p:cNvPr id="3" name="Picture 2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51560"/>
            <a:ext cx="10149840" cy="65973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</a:defRPr>
            </a:pPr>
            <a: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</a:defRPr>
            </a:pPr>
            <a:r>
              <a:t>Validación Experimental: Matriz de Contingencia Física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Conductores (Metales)</a:t>
            </a:r>
          </a:p>
          <a:p>
            <a:pPr algn="ctr">
              <a:defRPr sz="3200" b="1">
                <a:solidFill>
                  <a:srgbClr val="000000"/>
                </a:solidFill>
              </a:defRPr>
            </a:pPr>
            <a:r>
              <a:t>35 / 35</a:t>
            </a:r>
          </a:p>
          <a:p>
            <a:pPr algn="ctr">
              <a:defRPr sz="1600" b="1">
                <a:solidFill>
                  <a:srgbClr val="000000"/>
                </a:solidFill>
              </a:defRPr>
            </a:pPr>
            <a:r>
              <a:t>100 % Pureza</a:t>
            </a:r>
          </a:p>
          <a:p>
            <a:br/>
            <a:pPr>
              <a:defRPr sz="1100">
                <a:solidFill>
                  <a:srgbClr val="000000"/>
                </a:solidFill>
              </a:defRPr>
            </a:pPr>
            <a:r>
              <a:t>Asignados íntegramente al Cluster 0. Cero falsos negativos.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Aislantes (Dieléctricos)</a:t>
            </a:r>
          </a:p>
          <a:p>
            <a:pPr algn="ctr">
              <a:defRPr sz="3200" b="1">
                <a:solidFill>
                  <a:srgbClr val="000000"/>
                </a:solidFill>
              </a:defRPr>
            </a:pPr>
            <a:r>
              <a:t>10 / 10</a:t>
            </a:r>
          </a:p>
          <a:p>
            <a:pPr algn="ctr">
              <a:defRPr sz="1600" b="1">
                <a:solidFill>
                  <a:srgbClr val="000000"/>
                </a:solidFill>
              </a:defRPr>
            </a:pPr>
            <a:r>
              <a:t>100 % Pureza</a:t>
            </a:r>
          </a:p>
          <a:p>
            <a:br/>
            <a:pPr>
              <a:defRPr sz="1100">
                <a:solidFill>
                  <a:srgbClr val="000000"/>
                </a:solidFill>
              </a:defRPr>
            </a:pPr>
            <a:r>
              <a:t>Asignados íntegramente al Cluster 1. Coincidencia total con física.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Semiconductores</a:t>
            </a:r>
          </a:p>
          <a:p>
            <a:pPr algn="ctr">
              <a:defRPr sz="3200" b="1">
                <a:solidFill>
                  <a:srgbClr val="000000"/>
                </a:solidFill>
              </a:defRPr>
            </a:pPr>
            <a:r>
              <a:t>10 / 12</a:t>
            </a:r>
          </a:p>
          <a:p>
            <a:pPr algn="ctr">
              <a:defRPr sz="1600" b="1">
                <a:solidFill>
                  <a:srgbClr val="000000"/>
                </a:solidFill>
              </a:defRPr>
            </a:pPr>
            <a:r>
              <a:t>83.3 % Pureza</a:t>
            </a:r>
          </a:p>
          <a:p>
            <a:br/>
            <a:pPr>
              <a:defRPr sz="1050">
                <a:solidFill>
                  <a:srgbClr val="000000"/>
                </a:solidFill>
              </a:defRPr>
            </a:pPr>
            <a:r>
              <a:t>10 al Cluster 2. 2 semimetales clasificados en cluster 0 por conducción cuasi-metálica.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</a:defRPr>
            </a:pPr>
            <a:r>
              <a:t>Métrica Matemática Complementaria (No Supervisada):</a:t>
            </a:r>
          </a:p>
        </p:txBody>
      </p:sp>
      <p:pic>
        <p:nvPicPr>
          <p:cNvPr id="12" name="Picture 11" descr="formula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5257800"/>
            <a:ext cx="8046720" cy="13568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</a:defRPr>
            </a:pPr>
            <a: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</a:defRPr>
            </a:pPr>
            <a: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999713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828800"/>
            <a:ext cx="9235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0000"/>
                </a:solidFill>
              </a:defRPr>
            </a:pPr>
            <a:r>
              <a:t>Puntos Clave del Proyecto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</a:defRPr>
            </a:pPr>
            <a:r>
              <a:t>✔  Física de bandas sin supervisión:  DBSCAN descubre de manera autónoma las 3 fases de conducción (conductores, aislantes y semiconductores) a partir de propiedades macroscópicas.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</a:defRPr>
            </a:pPr>
            <a:r>
              <a:t>✔  Inmune a densidades dispares:  Supera a K-Means agrupando simultáneamente la ultra-densidad de los metales y la dispersión de 12 órdenes de magnitud de los aislantes.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</a:defRPr>
            </a:pPr>
            <a:r>
              <a:t>✔  Variables óptimas:  La escala logarítmica log₁₀(ρ) y el coeficiente térmico cuántico α bastan para separar completamente los regímenes de transporte.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</a:defRPr>
            </a:pPr>
            <a:r>
              <a:t>✔  Validación rotunda:  100% de pureza en conductores y aislantes con Silhouette Score = 0.7858.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