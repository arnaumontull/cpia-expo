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en Nevada: a la izquierda los epicentros, a la derecha los clusters; en morado los sospechosos.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Estructura de bandas y variación térmica: el signo y magnitud de alfa delatan la física microscópica.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Comparativa de escala: la compresión logarítmica es imprescindible para que los metales y aislantes coexistan.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K-Means asume varianzas similares y falla; DBSCAN conecta por densidad y respeta la dispersión natural.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 gráfico: el plano 2D muestra la separación nítida de las tres clases.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latin typeface="Arial"/>
              </a:defRPr>
            </a:pPr>
            <a:r>
              <a:rPr>
                <a:latin typeface="Arial"/>
              </a:rPr>
              <a:t>Aprendizaje no supervisado y detección de anomalías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55555"/>
                </a:solidFill>
                <a:latin typeface="Arial"/>
              </a:defRPr>
            </a:pPr>
            <a:r>
              <a:rPr>
                <a:latin typeface="Arial"/>
              </a:rPr>
              <a:t>CPIA · Grado en Ingeniería Física · UPC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latin typeface="Arial"/>
              </a:defRPr>
            </a:pPr>
            <a:r>
              <a:rPr>
                <a:latin typeface="Arial"/>
              </a:rPr>
              <a:t>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Qué vamos a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Clustering: K-Means, DBSCAN, jerárquico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Mezclas gaussianas (GaussianMixture) e Isolation Forest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Evaluar sin etiquetas: silhouette y método del codo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Cuatro problemas con aplicación física, uno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el equipo reparte quién explica la teoría de cada algoritmo]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Teoría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diapositivas de K-Means, DBSCAN, jerárquico, GMM, Isolation Forest, silhouette y codo]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¿terremoto o explosión nuclear?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Sismógrafos: mismos registros para terremotos y explosiones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usar la etiqueta, ¿puede un clustering señalarlas?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1: las pruebas se repiten en los mismos polígonos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2: ocurren casi en la superficie (mediana 0 km frente a 22 km)</a:t>
            </a:r>
          </a:p>
        </p:txBody>
      </p:sp>
      <p:pic>
        <p:nvPicPr>
          <p:cNvPr id="4" name="Picture 3" descr="cata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Catálogo USGS, M ≥ 4,5, 1951-2025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298 025 eventos; 614 etiquetados «nuclear explosion»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etiqueta solo se usa para evaluar, nunca para entrenar</a:t>
            </a:r>
          </a:p>
        </p:txBody>
      </p:sp>
      <p:pic>
        <p:nvPicPr>
          <p:cNvPr id="4" name="Picture 3" descr="profund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2743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Cómo se detecta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1. DBSCAN con distancia haversine (esfera)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2. Mediana de profundidad de cada cluster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3. Sospechoso si mediana en [dmin, dmax)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4. Comparar con la etiqueta: aciertos, falsos positivos (FP) y falsos negativos (FN)</a:t>
            </a:r>
          </a:p>
        </p:txBody>
      </p:sp>
      <p:pic>
        <p:nvPicPr>
          <p:cNvPr id="4" name="Picture 3" descr="deteccion_nev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53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Elegir y validar los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Parámetros fijos: eps = 25 km, vmin = 1, profundidad mediana en [0; 2,5) km (criterio físico)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eps = 25 km da el mínimo de falsos positivos (91) entre 5 y 100 km; es la única elección que mira la etiqueta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silueta no elige eps (es negativa y baja con eps); el codo de distancias k no marca un valor claro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 eps ≥ 50 km los grupos se funden con terremotos profundos: FP 460 (50 km) y FN 261 (75 km)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Estabilidad (ARI, muestra del 50 %): 0,52-0,62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nuke_optimizar.py se probó y se descartó: su ventana [0; 0,1) mide la convención del USGS</a:t>
            </a:r>
          </a:p>
        </p:txBody>
      </p:sp>
      <p:pic>
        <p:nvPicPr>
          <p:cNvPr id="4" name="Picture 3" descr="nukeval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1786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586 aciertos, 91 FP, 28 FN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Precisión 86,6 %  ·  recall 95,4 %  ·  F1 = 0,908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Globo interactivo: problemas/2_Nuclear/globo.html (4 vistas, sin internet)</a:t>
            </a:r>
          </a:p>
        </p:txBody>
      </p:sp>
      <p:pic>
        <p:nvPicPr>
          <p:cNvPr id="4" name="Picture 3" descr="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Limitaciones (preguntas probables)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vmin = 1: no hay ruido; la selección real la hace la profundidad. Con vmin = 3, F1 baja a 0,910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Mismos parámetros en los dos catálogos: F1 0,908 (grande) y 0,955 (pequeño); sin conjunto de prueba separado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El 85 % de las explosiones figura con profundidad 0,0 km en el USGS: una ventana [0; 0,1) daría F1 0,947, pero mediría esa convención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FP: terremotos muy superficiales y explosiones de minas; algunas pruebas oficiales figuran como earthquake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No usamos año ni número de estaciones: delatarían la época, no la física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Martí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3 familias y firmas térmicas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Conducción según la estructura cuántica de bandas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Variación térmica: ρ(T) = ρ₀ · [1 + α·(T - T₀)]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Coeficiente térmico: α = (1 / ρ₀) · (dρ / dT)₃₀₀K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Metales (α &gt; 0) · Semiconductores (α &lt; 0) · Aislantes (α ≈ 0)</a:t>
            </a:r>
          </a:p>
        </p:txBody>
      </p:sp>
      <p:pic>
        <p:nvPicPr>
          <p:cNvPr id="4" name="Picture 3" descr="esquema_bandas_mater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4643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Dataset y espacio (log₁₀ρ, α)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57 materiales reales recopilados experimentalmente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30 órdenes de magnitud en resistividad (10⁻⁸ a 10²² Ω·m)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Escala lineal colapsa en el origen; log₁₀(ρ) separa las fases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 no supervisado: descubrir las clases sin etiquetas</a:t>
            </a:r>
          </a:p>
        </p:txBody>
      </p:sp>
      <p:pic>
        <p:nvPicPr>
          <p:cNvPr id="4" name="Picture 3" descr="distribucion_escala_r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4605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¿Por qué DBSCAN frente a K-Means?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✖ K-Means: asume esfericidad, fractura aislantes y no aísla ruido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✔ DBSCAN: conecta por densidad local y tolera densidades desiguales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Metales hiperdensos vs aislantes extendidos en 12 órdenes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DBSCAN detecta anomalías de forma nativa (etiqueta -1)</a:t>
            </a:r>
          </a:p>
        </p:txBody>
      </p:sp>
      <p:pic>
        <p:nvPicPr>
          <p:cNvPr id="4" name="Picture 3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265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Metodología: Fórmulas y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Estandarización manual Z-Score con NumPy: Z = (X - μ) / σ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Vecindad: N_ε(p) = { q | d(p, q) ≤ ε }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Núcleo (Core Point): |N_ε(p)| ≥ min_samples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Parámetros fijados: ε = 0,65 (codo k-NN) y min_samples = 3 (d = 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Resultado: DBSCAN en 57 materiales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 clusters puros descubiertos por densidad: 0 ruido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 0 (ámbar): 35 metales conductores (Cu, Ag, Au...)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 1 (azul): 10 aislantes dieléctricos (vidrio, teflón...)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 2 (verde): 10 semiconductores (Si, Ge, GaAs...)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Frontera α = 0: fonones vs activación térmica</a:t>
            </a:r>
          </a:p>
        </p:txBody>
      </p:sp>
      <p:pic>
        <p:nvPicPr>
          <p:cNvPr id="4" name="Picture 3" descr="clusters_material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427939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Validación física: Matriz de contingencia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Conductores: 35 de 35 (100 % pureza en Cluster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Aislantes: 10 de 10 (100 % pureza en Cluster 1)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Semiconductores: 10 de 12 (83,3 % pureza en Cluster 2; 2 semimetales en cluster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Silhouette Score complementario: 0,7858 (alta cohesión interna)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comparativa del equipo: qué algoritmo funcionó mejor y por qué]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Código y documento de descripción entregados en Atenea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