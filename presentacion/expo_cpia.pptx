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bandas y variación térmica: el signo y magnitud de alfa delatan la física microscópica.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de escala: la compresión logarítmica es imprescindible para que los metales y aislantes coexistan.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asume varianzas similares y falla; DBSCAN conecta por densidad y respeta la dispersión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gráfico: el plano 2D muestra la separación nítida de las tres clases.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/>
            </a:pPr>
            <a: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</a:defRPr>
            </a:pPr>
            <a: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/>
            </a:pPr>
            <a: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Clustering: K-Means, DBSCAN, jerárquico</a:t>
            </a:r>
          </a:p>
          <a:p>
            <a:pPr>
              <a:spcAft>
                <a:spcPts val="800"/>
              </a:spcAft>
              <a:defRPr sz="2000" b="0"/>
            </a:pPr>
            <a: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/>
            </a:pPr>
            <a: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/>
            </a:pPr>
            <a: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/>
            </a:pPr>
            <a: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/>
            </a:pPr>
            <a: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/>
            </a:pPr>
            <a:r>
              <a:t>• Pista 2: ocurren casi en la superficie (mediana 0 km frente a 22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Catálogo USGS, M ≥ 4,5, 1951-2025</a:t>
            </a:r>
          </a:p>
          <a:p>
            <a:pPr>
              <a:spcAft>
                <a:spcPts val="800"/>
              </a:spcAft>
              <a:defRPr sz="2000" b="0"/>
            </a:pPr>
            <a:r>
              <a:t>• 298 025 eventos; 614 etiquetados «nuclear explosion»</a:t>
            </a:r>
          </a:p>
          <a:p>
            <a:pPr>
              <a:spcAft>
                <a:spcPts val="800"/>
              </a:spcAft>
              <a:defRPr sz="2000" b="0"/>
            </a:pPr>
            <a: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1. DBSCAN con distancia haversine (esfera)</a:t>
            </a:r>
          </a:p>
          <a:p>
            <a:pPr>
              <a:spcAft>
                <a:spcPts val="800"/>
              </a:spcAft>
              <a:defRPr sz="2000" b="0"/>
            </a:pPr>
            <a:r>
              <a:t>• 2. Mediana de profundidad de cada cluster</a:t>
            </a:r>
          </a:p>
          <a:p>
            <a:pPr>
              <a:spcAft>
                <a:spcPts val="800"/>
              </a:spcAft>
              <a:defRPr sz="2000" b="0"/>
            </a:pPr>
            <a:r>
              <a:t>• 3. Sospechoso si mediana en [dmin, dmax)</a:t>
            </a:r>
          </a:p>
          <a:p>
            <a:pPr>
              <a:spcAft>
                <a:spcPts val="800"/>
              </a:spcAft>
              <a:defRPr sz="2000" b="0"/>
            </a:pPr>
            <a: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Parámetros fijos: eps = 25 km, vmin = 1, profundidad mediana en [0; 2,5) km (criterio físico)</a:t>
            </a:r>
          </a:p>
          <a:p>
            <a:pPr>
              <a:spcAft>
                <a:spcPts val="800"/>
              </a:spcAft>
              <a:defRPr sz="2000" b="0"/>
            </a:pPr>
            <a:r>
              <a:t>• eps = 25 km da el mínimo de falsos positivos (91) entre 5 y 100 km; es la única elección que mira la etiqueta</a:t>
            </a:r>
          </a:p>
          <a:p>
            <a:pPr>
              <a:spcAft>
                <a:spcPts val="800"/>
              </a:spcAft>
              <a:defRPr sz="2000" b="0"/>
            </a:pPr>
            <a: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/>
            </a:pPr>
            <a:r>
              <a:t>• Con eps ≥ 50 km los grupos se funden con terremotos profundos: FP 460 (50 km) y FN 261 (75 km)</a:t>
            </a:r>
          </a:p>
          <a:p>
            <a:pPr>
              <a:spcAft>
                <a:spcPts val="800"/>
              </a:spcAft>
              <a:defRPr sz="2000" b="0"/>
            </a:pPr>
            <a:r>
              <a:t>• Estabilidad (ARI, muestra del 50 %): 0,52-0,62</a:t>
            </a:r>
          </a:p>
          <a:p>
            <a:pPr>
              <a:spcAft>
                <a:spcPts val="800"/>
              </a:spcAft>
              <a:defRPr sz="2000" b="0"/>
            </a:pPr>
            <a: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586 aciertos, 91 FP, 28 FN</a:t>
            </a:r>
          </a:p>
          <a:p>
            <a:pPr>
              <a:spcAft>
                <a:spcPts val="800"/>
              </a:spcAft>
              <a:defRPr sz="2000" b="0"/>
            </a:pPr>
            <a:r>
              <a:t>• Precisión 86,6 %  ·  recall 95,4 %  ·  F1 = 0,908</a:t>
            </a:r>
          </a:p>
          <a:p>
            <a:pPr>
              <a:spcAft>
                <a:spcPts val="800"/>
              </a:spcAft>
              <a:defRPr sz="2000" b="0"/>
            </a:pPr>
            <a: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vmin = 1: no hay ruido; la selección real la hace la profundidad. Con vmin = 3, F1 baja a 0,910</a:t>
            </a:r>
          </a:p>
          <a:p>
            <a:pPr>
              <a:spcAft>
                <a:spcPts val="800"/>
              </a:spcAft>
              <a:defRPr sz="2000" b="0"/>
            </a:pPr>
            <a:r>
              <a:t>• Mismos parámetros en los dos catálogos: F1 0,908 (grande) y 0,955 (pequeño); sin conjunto de prueba separado</a:t>
            </a:r>
          </a:p>
          <a:p>
            <a:pPr>
              <a:spcAft>
                <a:spcPts val="800"/>
              </a:spcAft>
              <a:defRPr sz="2000" b="0"/>
            </a:pPr>
            <a:r>
              <a:t>• El 85 % de las explosiones figura con profundidad 0,0 km en el USGS: una ventana [0; 0,1) daría F1 0,947, pero mediría esa convención</a:t>
            </a:r>
          </a:p>
          <a:p>
            <a:pPr>
              <a:spcAft>
                <a:spcPts val="800"/>
              </a:spcAft>
              <a:defRPr sz="2000" b="0"/>
            </a:pPr>
            <a:r>
              <a:t>• FP: terremotos muy superficiales y explosiones de minas; algunas pruebas oficiales figuran como earthquake</a:t>
            </a:r>
          </a:p>
          <a:p>
            <a:pPr>
              <a:spcAft>
                <a:spcPts val="800"/>
              </a:spcAft>
              <a:defRPr sz="2000" b="0"/>
            </a:pPr>
            <a: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Problema: 3 familias y firmas térmicas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Conducción según la estructura cuántica de bandas</a:t>
            </a:r>
          </a:p>
          <a:p>
            <a:pPr>
              <a:spcAft>
                <a:spcPts val="800"/>
              </a:spcAft>
              <a:defRPr sz="2000" b="0"/>
            </a:pPr>
            <a:r>
              <a:t>• Variación térmica: ρ(T) = ρ₀ · [1 + α·(T - T₀)]</a:t>
            </a:r>
          </a:p>
          <a:p>
            <a:pPr>
              <a:spcAft>
                <a:spcPts val="800"/>
              </a:spcAft>
              <a:defRPr sz="2000" b="0"/>
            </a:pPr>
            <a:r>
              <a:t>• Coeficiente térmico: α = (1 / ρ₀) · (dρ / dT)₃₀₀K</a:t>
            </a:r>
          </a:p>
          <a:p>
            <a:pPr>
              <a:spcAft>
                <a:spcPts val="800"/>
              </a:spcAft>
              <a:defRPr sz="2000" b="0"/>
            </a:pPr>
            <a:r>
              <a:t>• Metales (α &gt; 0) · Semiconductores (α &lt; 0) · Aislantes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46676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Dataset y espacio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57 materiales reales recopilados experimentalmente</a:t>
            </a:r>
          </a:p>
          <a:p>
            <a:pPr>
              <a:spcAft>
                <a:spcPts val="800"/>
              </a:spcAft>
              <a:defRPr sz="2000" b="0"/>
            </a:pPr>
            <a:r>
              <a:t>• 30 órdenes de magnitud en resistividad (10⁻⁸ a 10²² Ω·m)</a:t>
            </a:r>
          </a:p>
          <a:p>
            <a:pPr>
              <a:spcAft>
                <a:spcPts val="800"/>
              </a:spcAft>
              <a:defRPr sz="2000" b="0"/>
            </a:pPr>
            <a:r>
              <a:t>• Escala lineal colapsa en el origen; log₁₀(ρ) separa las fases</a:t>
            </a:r>
          </a:p>
          <a:p>
            <a:pPr>
              <a:spcAft>
                <a:spcPts val="800"/>
              </a:spcAft>
              <a:defRPr sz="2000" b="0"/>
            </a:pPr>
            <a:r>
              <a:t>• Clustering no supervisado: descubrir las clases sin etiquetas</a:t>
            </a:r>
          </a:p>
        </p:txBody>
      </p:sp>
      <p:pic>
        <p:nvPicPr>
          <p:cNvPr id="4" name="Picture 3" descr="distribucion_escala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4605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¿Por qué DBSCAN frente a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✖ K-Means: asume esfericidad, fractura aislantes y no aísla ruido</a:t>
            </a:r>
          </a:p>
          <a:p>
            <a:pPr>
              <a:spcAft>
                <a:spcPts val="800"/>
              </a:spcAft>
              <a:defRPr sz="2000" b="0"/>
            </a:pPr>
            <a:r>
              <a:t>• ✔ DBSCAN: conecta por densidad local y tolera densidades desiguales</a:t>
            </a:r>
          </a:p>
          <a:p>
            <a:pPr>
              <a:spcAft>
                <a:spcPts val="800"/>
              </a:spcAft>
              <a:defRPr sz="2000" b="0"/>
            </a:pPr>
            <a:r>
              <a:t>• Metales hiperdensos vs aislantes extendidos en 12 órdenes</a:t>
            </a:r>
          </a:p>
          <a:p>
            <a:pPr>
              <a:spcAft>
                <a:spcPts val="800"/>
              </a:spcAft>
              <a:defRPr sz="2000" b="0"/>
            </a:pPr>
            <a:r>
              <a:t>• DBSCAN detecta anomalías de forma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Metodología: Fórmulas y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Estandarización manual Z-Score con NumPy: Z = (X - μ) / σ</a:t>
            </a:r>
          </a:p>
          <a:p>
            <a:pPr>
              <a:spcAft>
                <a:spcPts val="800"/>
              </a:spcAft>
              <a:defRPr sz="2000" b="0"/>
            </a:pPr>
            <a:r>
              <a:t>• Vecindad: N_ε(p) = { q | d(p, q) ≤ ε }</a:t>
            </a:r>
          </a:p>
          <a:p>
            <a:pPr>
              <a:spcAft>
                <a:spcPts val="800"/>
              </a:spcAft>
              <a:defRPr sz="2000" b="0"/>
            </a:pPr>
            <a:r>
              <a:t>• Núcleo (Core Point): |N_ε(p)| ≥ min_samples</a:t>
            </a:r>
          </a:p>
          <a:p>
            <a:pPr>
              <a:spcAft>
                <a:spcPts val="800"/>
              </a:spcAft>
              <a:defRPr sz="2000" b="0"/>
            </a:pPr>
            <a:r>
              <a:t>• Parámetros fijados: ε = 0,65 (codo k-NN) y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Resultado: DBSCAN en 57 materiales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3 clusters puros descubiertos por densidad: 0 ruido</a:t>
            </a:r>
          </a:p>
          <a:p>
            <a:pPr>
              <a:spcAft>
                <a:spcPts val="800"/>
              </a:spcAft>
              <a:defRPr sz="2000" b="0"/>
            </a:pPr>
            <a:r>
              <a:t>• Cluster 0 (ámbar): 35 metales conductores (Cu, Ag, Au...)</a:t>
            </a:r>
          </a:p>
          <a:p>
            <a:pPr>
              <a:spcAft>
                <a:spcPts val="800"/>
              </a:spcAft>
              <a:defRPr sz="2000" b="0"/>
            </a:pPr>
            <a:r>
              <a:t>• Cluster 1 (azul): 10 aislantes dieléctricos (vidrio, teflón...)</a:t>
            </a:r>
          </a:p>
          <a:p>
            <a:pPr>
              <a:spcAft>
                <a:spcPts val="800"/>
              </a:spcAft>
              <a:defRPr sz="2000" b="0"/>
            </a:pPr>
            <a:r>
              <a:t>• Cluster 2 (verde): 10 semiconductores (Si, Ge, GaAs...)</a:t>
            </a:r>
          </a:p>
          <a:p>
            <a:pPr>
              <a:spcAft>
                <a:spcPts val="800"/>
              </a:spcAft>
              <a:defRPr sz="2000" b="0"/>
            </a:pPr>
            <a:r>
              <a:t>• Frontera α = 0: fonones vs activación térmica</a:t>
            </a:r>
          </a:p>
        </p:txBody>
      </p:sp>
      <p:pic>
        <p:nvPicPr>
          <p:cNvPr id="4" name="Picture 3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Validación física: Matriz de contingencia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Conductores: 35 de 35 (100 % pureza en Cluster 0)</a:t>
            </a:r>
          </a:p>
          <a:p>
            <a:pPr>
              <a:spcAft>
                <a:spcPts val="800"/>
              </a:spcAft>
              <a:defRPr sz="2000" b="0"/>
            </a:pPr>
            <a:r>
              <a:t>• Aislantes: 10 de 10 (100 % pureza en Cluster 1)</a:t>
            </a:r>
          </a:p>
          <a:p>
            <a:pPr>
              <a:spcAft>
                <a:spcPts val="800"/>
              </a:spcAft>
              <a:defRPr sz="2000" b="0"/>
            </a:pPr>
            <a:r>
              <a:t>• Semiconductores: 10 de 12 (83,3 % pureza en Cluster 2; 2 semimetales en cluster 0)</a:t>
            </a:r>
          </a:p>
          <a:p>
            <a:pPr>
              <a:spcAft>
                <a:spcPts val="800"/>
              </a:spcAft>
              <a:defRPr sz="2000" b="0"/>
            </a:pPr>
            <a:r>
              <a:t>• Silhouette Score complementario: 0,7858 (alta cohesión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