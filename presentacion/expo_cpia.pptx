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2,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(57)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453 (50 km) y FN 288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0,54-0,64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189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551 aciertos, 57 FP, 63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90,6 %  ·  recall 89,7 %  ·  F1 = 0,902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2: los sismos aislados son ruido. Con vmin = 1 hay 28 FN pero 115 FP (F1 0,891): compromiso precisión-recall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0,922,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FP: 14 son otros eventos no sísmicos (explosiones, minas); sin ellos serían 43 y F1 0,912. 40 de los 63 FN son explosiones aisladas (ruido)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Classificació de Materials Elèctrics mitjançant DBSCAN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188720" y="3291840"/>
            <a:ext cx="9784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lang="en-US" sz="1700">
                <a:latin typeface="Arial"/>
              </a:rPr>
              <a:t>Classificació de materials </a:t>
            </a:r>
            <a:r>
              <a:rPr b="0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Conductors, Semiconductors i Aïllants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Uriel · Grau en Enginyeria Física (UPC)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Equip: Matías · Martí · Uriel · Arnau Montull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" name="Google Shape;94;p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El Problema Físic: Estructura de Bandes i Signatures Tèrmiques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731520" y="1325880"/>
            <a:ext cx="10728655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1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Equacions Macroscòpiques de Transport Elèctric:</a:t>
            </a:r>
            <a:endParaRPr/>
          </a:p>
        </p:txBody>
      </p:sp>
      <p:pic>
        <p:nvPicPr>
          <p:cNvPr descr="formula_transporte.png" id="97" name="Google Shape;97;p2"/>
          <p:cNvPicPr preferRelativeResize="0"/>
          <p:nvPr/>
        </p:nvPicPr>
        <p:blipFill rotWithShape="1">
          <a:blip r:embed="rId2">
            <a:alphaModFix/>
          </a:blip>
          <a:srcRect b="22900" l="12228" r="13072" t="25813"/>
          <a:stretch/>
        </p:blipFill>
        <p:spPr>
          <a:xfrm>
            <a:off x="2171076" y="1533299"/>
            <a:ext cx="7849532" cy="865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quema_bandas_materiales.png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606040"/>
            <a:ext cx="10728655" cy="3800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4" name="Google Shape;104;p3"/>
          <p:cNvSpPr txBox="1"/>
          <p:nvPr/>
        </p:nvSpPr>
        <p:spPr>
          <a:xfrm>
            <a:off x="731520" y="426234"/>
            <a:ext cx="10698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 Experimental i Espai de Treball (log₁₀ρ, α)</a:t>
            </a:r>
            <a:endParaRPr/>
          </a:p>
        </p:txBody>
      </p:sp>
      <p:sp>
        <p:nvSpPr>
          <p:cNvPr id="105" name="Google Shape;105;p3"/>
          <p:cNvSpPr/>
          <p:nvPr/>
        </p:nvSpPr>
        <p:spPr>
          <a:xfrm>
            <a:off x="2349500" y="1217150"/>
            <a:ext cx="7609800" cy="5195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4234100" y="1381600"/>
            <a:ext cx="3840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 classificar sense etiquetes?</a:t>
            </a:r>
            <a:endParaRPr/>
          </a:p>
        </p:txBody>
      </p:sp>
      <p:pic>
        <p:nvPicPr>
          <p:cNvPr descr="formula_coordenadas.png" id="107" name="Google Shape;107;p3"/>
          <p:cNvPicPr preferRelativeResize="0"/>
          <p:nvPr/>
        </p:nvPicPr>
        <p:blipFill rotWithShape="1">
          <a:blip r:embed="rId2">
            <a:alphaModFix/>
          </a:blip>
          <a:srcRect b="0" l="10671" r="50341" t="0"/>
          <a:stretch/>
        </p:blipFill>
        <p:spPr>
          <a:xfrm>
            <a:off x="3756139" y="1632176"/>
            <a:ext cx="2365954" cy="10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 txBox="1"/>
          <p:nvPr/>
        </p:nvSpPr>
        <p:spPr>
          <a:xfrm>
            <a:off x="2676716" y="2718125"/>
            <a:ext cx="6640500" cy="29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57 Materials reals: Metalls purs, aliatges, semiconductors i dielèctrics.</a:t>
            </a:r>
            <a:endParaRPr sz="18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30 ordres de magnitud: De conductors (~10⁻⁸ Ω·m) a tefló (&gt; 10²² Ω·m).</a:t>
            </a:r>
            <a:endParaRPr sz="18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Compressió logarítmica: Evita el col·lapse numèric a l'origen.</a:t>
            </a:r>
            <a:endParaRPr sz="18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Signatura quàntica: α </a:t>
            </a:r>
            <a:r>
              <a:rPr lang="en-US" sz="1800">
                <a:latin typeface="Arial"/>
              </a:rPr>
              <a:t>indica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l'origen microscòpic del transport.</a:t>
            </a:r>
            <a:endParaRPr sz="18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Dades sense etiquetar: L'algorisme ha de descobrir l'estructura sol.</a:t>
            </a:r>
            <a:endParaRPr sz="1800"/>
          </a:p>
        </p:txBody>
      </p:sp>
      <p:pic>
        <p:nvPicPr>
          <p:cNvPr descr="formula_coordenadas.png" id="109" name="Google Shape;109;p3"/>
          <p:cNvPicPr preferRelativeResize="0"/>
          <p:nvPr/>
        </p:nvPicPr>
        <p:blipFill rotWithShape="1">
          <a:blip r:embed="rId2">
            <a:alphaModFix/>
          </a:blip>
          <a:srcRect b="0" l="59075" r="8437" t="0"/>
          <a:stretch/>
        </p:blipFill>
        <p:spPr>
          <a:xfrm>
            <a:off x="6266365" y="1617501"/>
            <a:ext cx="1971449" cy="10859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materiales_antes_clustering.png" id="114" name="Google Shape;114;h5dfacf261ba3c708_0_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21237" y="715513"/>
            <a:ext cx="8349199" cy="542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" name="Google Shape;120;p4"/>
          <p:cNvSpPr txBox="1"/>
          <p:nvPr/>
        </p:nvSpPr>
        <p:spPr>
          <a:xfrm>
            <a:off x="746532" y="371591"/>
            <a:ext cx="10698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DBSCAN </a:t>
            </a:r>
            <a:r>
              <a:rPr b="1" lang="en-US" sz="2300">
                <a:latin typeface="Arial"/>
              </a:rPr>
              <a:t>vs.</a:t>
            </a: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K-Means?</a:t>
            </a:r>
            <a:endParaRPr/>
          </a:p>
        </p:txBody>
      </p:sp>
      <p:grpSp>
        <p:nvGrpSpPr>
          <p:cNvPr id="121" name="Google Shape;121;p4"/>
          <p:cNvGrpSpPr/>
          <p:nvPr/>
        </p:nvGrpSpPr>
        <p:grpSpPr>
          <a:xfrm>
            <a:off x="943763" y="1908501"/>
            <a:ext cx="4389000" cy="3040990"/>
            <a:chOff x="-2971805" y="1711065"/>
            <a:chExt cx="4389000" cy="4846200"/>
          </a:xfrm>
        </p:grpSpPr>
        <p:sp>
          <p:nvSpPr>
            <p:cNvPr id="122" name="Google Shape;122;p4"/>
            <p:cNvSpPr/>
            <p:nvPr/>
          </p:nvSpPr>
          <p:spPr>
            <a:xfrm>
              <a:off x="-2971805" y="1711065"/>
              <a:ext cx="4389000" cy="48462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90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4"/>
            <p:cNvSpPr txBox="1"/>
            <p:nvPr/>
          </p:nvSpPr>
          <p:spPr>
            <a:xfrm>
              <a:off x="-2788962" y="2429139"/>
              <a:ext cx="4023300" cy="310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K-Means (Inadequat en aquest domini)</a:t>
              </a:r>
              <a:endParaRPr/>
            </a:p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✖  Assumeix grups esfèrics i isodensos (igual variància).</a:t>
              </a:r>
              <a:endParaRPr/>
            </a:p>
            <a:p>
              <a:pPr indent="0" lvl="0" marL="0" marR="0" rtl="0" algn="l">
                <a:lnSpc>
                  <a:spcPct val="115000"/>
                </a:lnSpc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✖  Fractura el grup dispers d'aïllants.</a:t>
              </a:r>
              <a:endParaRPr/>
            </a:p>
            <a:p>
              <a:pPr indent="0" lvl="0" marL="0" marR="0" rtl="0" algn="l">
                <a:lnSpc>
                  <a:spcPct val="115000"/>
                </a:lnSpc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✖  Exigeix prefixar 'k' a priori de forma arbitrària.</a:t>
              </a:r>
              <a:endParaRPr/>
            </a:p>
            <a:p>
              <a:pPr indent="0" lvl="0" marL="0" marR="0" rtl="0" algn="l">
                <a:lnSpc>
                  <a:spcPct val="115000"/>
                </a:lnSpc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✖  No detecta soroll: força anomalies a tenir clúster.</a:t>
              </a:r>
              <a:endParaRPr/>
            </a:p>
          </p:txBody>
        </p:sp>
      </p:grpSp>
      <p:sp>
        <p:nvSpPr>
          <p:cNvPr id="124" name="Google Shape;124;p4"/>
          <p:cNvSpPr/>
          <p:nvPr/>
        </p:nvSpPr>
        <p:spPr>
          <a:xfrm>
            <a:off x="6858913" y="1908450"/>
            <a:ext cx="4389000" cy="3041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>
                <a:latin typeface="Arial"/>
              </a:defRPr>
            </a:pPr>
            <a:r>
              <a:rPr b="1" lang="en-US">
                <a:solidFill>
                  <a:schemeClr val="dk1"/>
                </a:solidFill>
                <a:latin typeface="Arial"/>
              </a:rPr>
              <a:t>DBSCAN (Elecció Òptima)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>
                <a:latin typeface="Arial"/>
              </a:defRPr>
            </a:pPr>
            <a:r>
              <a:rPr lang="en-US">
                <a:solidFill>
                  <a:schemeClr val="dk1"/>
                </a:solidFill>
                <a:latin typeface="Arial"/>
              </a:rPr>
              <a:t>✔  Connecta per densitat local de qualsevol forma.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>
                <a:latin typeface="Arial"/>
              </a:defRPr>
            </a:pPr>
            <a:r>
              <a:rPr lang="en-US">
                <a:solidFill>
                  <a:schemeClr val="dk1"/>
                </a:solidFill>
                <a:latin typeface="Arial"/>
              </a:rPr>
              <a:t>✔  Tolera metalls hiperdensos i aïllants laxos.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>
                <a:latin typeface="Arial"/>
              </a:defRPr>
            </a:pPr>
            <a:r>
              <a:rPr lang="en-US">
                <a:solidFill>
                  <a:schemeClr val="dk1"/>
                </a:solidFill>
                <a:latin typeface="Arial"/>
              </a:rPr>
              <a:t>✔  Descobreix el nombre de clústers sense prefixar k.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  <a:defRPr>
                <a:latin typeface="Arial"/>
              </a:defRPr>
            </a:pPr>
            <a:r>
              <a:rPr lang="en-US">
                <a:solidFill>
                  <a:schemeClr val="dk1"/>
                </a:solidFill>
                <a:latin typeface="Arial"/>
              </a:rPr>
              <a:t>✔  Etiqueta soroll i anomalies de forma nativa (-1).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comparativa_kmeans_dbscan.png" id="129" name="Google Shape;129;h5dfacf261ba3c708_0_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5712" y="1238149"/>
            <a:ext cx="10580252" cy="438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5" name="Google Shape;135;p5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Metodologia Matemàtica: Fórmules i Paràmetres</a:t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731520" y="1463040"/>
            <a:ext cx="3337500" cy="4755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Estandardització Z-Score</a:t>
            </a:r>
            <a:b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(Implementada amb NumPy)</a:t>
            </a:r>
            <a:endParaRPr/>
          </a:p>
        </p:txBody>
      </p:sp>
      <p:pic>
        <p:nvPicPr>
          <p:cNvPr descr="formula_zscore.png" id="138" name="Google Shape;138;p5"/>
          <p:cNvPicPr preferRelativeResize="0"/>
          <p:nvPr/>
        </p:nvPicPr>
        <p:blipFill rotWithShape="1">
          <a:blip r:embed="rId2">
            <a:alphaModFix/>
          </a:blip>
          <a:srcRect b="26217" l="5302" r="77936" t="31871"/>
          <a:stretch/>
        </p:blipFill>
        <p:spPr>
          <a:xfrm>
            <a:off x="1490032" y="3720575"/>
            <a:ext cx="1365382" cy="61953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"/>
          <p:cNvSpPr txBox="1"/>
          <p:nvPr/>
        </p:nvSpPr>
        <p:spPr>
          <a:xfrm>
            <a:off x="914400" y="4427372"/>
            <a:ext cx="2971800" cy="15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μ = Mitjana mostral per columna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σ = Desviació estàndard típica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Resultat: Mitjana = 0, Variància = 1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Imprescindible: equipara el rang de log₁₀ρ (~31) amb el d'α (~0.08) per a la distància euclidiana.</a:t>
            </a:r>
            <a:endParaRPr sz="1200"/>
          </a:p>
        </p:txBody>
      </p:sp>
      <p:sp>
        <p:nvSpPr>
          <p:cNvPr id="140" name="Google Shape;140;p5"/>
          <p:cNvSpPr/>
          <p:nvPr/>
        </p:nvSpPr>
        <p:spPr>
          <a:xfrm>
            <a:off x="4434840" y="1463040"/>
            <a:ext cx="3337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Criteri de Nucli</a:t>
            </a:r>
            <a:b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(DBSCAN Espacial)</a:t>
            </a:r>
            <a:endParaRPr/>
          </a:p>
        </p:txBody>
      </p:sp>
      <p:pic>
        <p:nvPicPr>
          <p:cNvPr descr="formula_nucleo.png" id="142" name="Google Shape;142;p5"/>
          <p:cNvPicPr preferRelativeResize="0"/>
          <p:nvPr/>
        </p:nvPicPr>
        <p:blipFill rotWithShape="1">
          <a:blip r:embed="rId3">
            <a:alphaModFix/>
          </a:blip>
          <a:srcRect b="0" l="0" r="46245" t="0"/>
          <a:stretch/>
        </p:blipFill>
        <p:spPr>
          <a:xfrm>
            <a:off x="4971837" y="2514602"/>
            <a:ext cx="2263502" cy="76406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4617720" y="3978782"/>
            <a:ext cx="2971800" cy="185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d(p, q) = Distància Euclidiana en 2D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Punt Nucli (Core Point):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   |N_ε(p)| ≥ min_samples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Punt Frontera (Border):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   Assolible des d'un nucli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Soroll (Noise):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   No assolible (|N_ε| &lt; min_samples)</a:t>
            </a:r>
            <a:endParaRPr sz="1200"/>
          </a:p>
        </p:txBody>
      </p:sp>
      <p:sp>
        <p:nvSpPr>
          <p:cNvPr id="144" name="Google Shape;144;p5"/>
          <p:cNvSpPr/>
          <p:nvPr/>
        </p:nvSpPr>
        <p:spPr>
          <a:xfrm>
            <a:off x="8138160" y="1463040"/>
            <a:ext cx="3337560" cy="4754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Paràmetres Fixats</a:t>
            </a:r>
            <a:b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(Criteri Objectiu)</a:t>
            </a:r>
            <a:endParaRPr/>
          </a:p>
        </p:txBody>
      </p:sp>
      <p:pic>
        <p:nvPicPr>
          <p:cNvPr descr="formula_parametros.png" id="146" name="Google Shape;146;p5"/>
          <p:cNvPicPr preferRelativeResize="0"/>
          <p:nvPr/>
        </p:nvPicPr>
        <p:blipFill rotWithShape="1">
          <a:blip r:embed="rId4">
            <a:alphaModFix/>
          </a:blip>
          <a:srcRect b="0" l="0" r="55427" t="0"/>
          <a:stretch/>
        </p:blipFill>
        <p:spPr>
          <a:xfrm>
            <a:off x="8540892" y="2157889"/>
            <a:ext cx="2474962" cy="94578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5"/>
          <p:cNvSpPr txBox="1"/>
          <p:nvPr/>
        </p:nvSpPr>
        <p:spPr>
          <a:xfrm>
            <a:off x="8229550" y="3726650"/>
            <a:ext cx="31548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min_samples = 3: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Regla canònica k ≥ d + 1 (dimensió d = 2).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ε = 0.65: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   Determinat mitjançant gràfic k-NN (colze).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   Finestra òptima que aïlla aïllants sense fusionar metalls.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Execució: scikit-learn DBSCAN</a:t>
            </a:r>
            <a:endParaRPr sz="1200"/>
          </a:p>
        </p:txBody>
      </p:sp>
      <p:pic>
        <p:nvPicPr>
          <p:cNvPr descr="formula_zscore.png" id="148" name="Google Shape;148;p5"/>
          <p:cNvPicPr preferRelativeResize="0"/>
          <p:nvPr/>
        </p:nvPicPr>
        <p:blipFill rotWithShape="1">
          <a:blip r:embed="rId2">
            <a:alphaModFix/>
          </a:blip>
          <a:srcRect b="0" l="27341" r="49023" t="0"/>
          <a:stretch/>
        </p:blipFill>
        <p:spPr>
          <a:xfrm>
            <a:off x="1742197" y="2104680"/>
            <a:ext cx="1120208" cy="8600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rmula_zscore.png" id="149" name="Google Shape;149;p5"/>
          <p:cNvPicPr preferRelativeResize="0"/>
          <p:nvPr/>
        </p:nvPicPr>
        <p:blipFill rotWithShape="1">
          <a:blip r:embed="rId2">
            <a:alphaModFix/>
          </a:blip>
          <a:srcRect b="0" l="53205" r="0" t="0"/>
          <a:stretch/>
        </p:blipFill>
        <p:spPr>
          <a:xfrm>
            <a:off x="1382523" y="2972280"/>
            <a:ext cx="1839576" cy="7133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rmula_nucleo.png" id="150" name="Google Shape;150;p5"/>
          <p:cNvPicPr preferRelativeResize="0"/>
          <p:nvPr/>
        </p:nvPicPr>
        <p:blipFill rotWithShape="1">
          <a:blip r:embed="rId3">
            <a:alphaModFix/>
          </a:blip>
          <a:srcRect b="0" l="55427" r="0" t="0"/>
          <a:stretch/>
        </p:blipFill>
        <p:spPr>
          <a:xfrm>
            <a:off x="5165135" y="3016210"/>
            <a:ext cx="1876892" cy="7641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rmula_parametros.png" id="151" name="Google Shape;151;p5"/>
          <p:cNvPicPr preferRelativeResize="0"/>
          <p:nvPr/>
        </p:nvPicPr>
        <p:blipFill rotWithShape="1">
          <a:blip r:embed="rId4">
            <a:alphaModFix/>
          </a:blip>
          <a:srcRect b="0" l="46961" r="0" t="0"/>
          <a:stretch/>
        </p:blipFill>
        <p:spPr>
          <a:xfrm>
            <a:off x="8772856" y="3043549"/>
            <a:ext cx="2011042" cy="6458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7" name="Google Shape;157;p6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Resultat DBSCAN: Abans i Després de l'Agrupament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Dades Experimentals en Brut vs. 3 Clústers Purs Descoberts (ε = 0.65, min_samples = 3)</a:t>
            </a:r>
            <a:endParaRPr/>
          </a:p>
        </p:txBody>
      </p:sp>
      <p:pic>
        <p:nvPicPr>
          <p:cNvPr descr="comparativa_abans_despres_dbscan.png" id="158" name="Google Shape;15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4000" y="1320288"/>
            <a:ext cx="10883677" cy="4217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4" name="Google Shape;164;p7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2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Validació Experimental: Matriu de Contingència Física</a:t>
            </a: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731520" y="1790913"/>
            <a:ext cx="3337500" cy="310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 txBox="1"/>
          <p:nvPr/>
        </p:nvSpPr>
        <p:spPr>
          <a:xfrm>
            <a:off x="914400" y="1973793"/>
            <a:ext cx="29718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Conductors (Metalls)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1" sz="32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35 / 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100 % Puresa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b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Assignats íntegrament al Clúster 0. Zero falsos negatius.</a:t>
            </a:r>
            <a:endParaRPr sz="1600"/>
          </a:p>
        </p:txBody>
      </p:sp>
      <p:sp>
        <p:nvSpPr>
          <p:cNvPr id="167" name="Google Shape;167;p7"/>
          <p:cNvSpPr/>
          <p:nvPr/>
        </p:nvSpPr>
        <p:spPr>
          <a:xfrm>
            <a:off x="4434840" y="1790913"/>
            <a:ext cx="3337500" cy="310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4617720" y="1973793"/>
            <a:ext cx="29718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Aïllants (Dielèctrics)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1" sz="32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 / 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100 % Puresa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b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Assignats íntegrament al Clúster 1. Coincidència total amb la física.</a:t>
            </a:r>
            <a:endParaRPr sz="1600"/>
          </a:p>
        </p:txBody>
      </p:sp>
      <p:sp>
        <p:nvSpPr>
          <p:cNvPr id="169" name="Google Shape;169;p7"/>
          <p:cNvSpPr/>
          <p:nvPr/>
        </p:nvSpPr>
        <p:spPr>
          <a:xfrm>
            <a:off x="8138160" y="1790913"/>
            <a:ext cx="3337500" cy="310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7"/>
          <p:cNvSpPr txBox="1"/>
          <p:nvPr/>
        </p:nvSpPr>
        <p:spPr>
          <a:xfrm>
            <a:off x="8321040" y="1973793"/>
            <a:ext cx="29718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Semiconductors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>
                <a:latin typeface="Arial"/>
              </a:rPr>
              <a:t/>
            </a:r>
            <a:endParaRPr b="1" sz="32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 / 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83.3 % Puresa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b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 al Clúster 2. 2 semimetalls classificats al clúster 0 per conducció cuasimetàl·lica.</a:t>
            </a:r>
            <a:endParaRPr sz="1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6" name="Google Shape;176;p8"/>
          <p:cNvSpPr txBox="1"/>
          <p:nvPr/>
        </p:nvSpPr>
        <p:spPr>
          <a:xfrm>
            <a:off x="731520" y="685800"/>
            <a:ext cx="10698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1" i="0" lang="en-US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Conclusions</a:t>
            </a:r>
            <a:endParaRPr sz="4000"/>
          </a:p>
        </p:txBody>
      </p:sp>
      <p:sp>
        <p:nvSpPr>
          <p:cNvPr id="177" name="Google Shape;177;p8"/>
          <p:cNvSpPr txBox="1"/>
          <p:nvPr/>
        </p:nvSpPr>
        <p:spPr>
          <a:xfrm>
            <a:off x="1463040" y="1828800"/>
            <a:ext cx="9235500" cy="37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Física de bandes sense supervisió: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DBSCAN descobreix de manera autònoma les 3 fases de conducció (conductors, aïllants i semiconductors) a partir de propietats macroscòpiques.</a:t>
            </a:r>
            <a:endParaRPr sz="1800"/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✔  Immune a densitats dispars:  Supera K-Means agrupant simultàniament la ultradensitat dels metalls i la dispersió de 12 ordres de magnitud dels aïllants.</a:t>
            </a:r>
            <a:endParaRPr sz="1800"/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✔  Variables òptimes:  L'escala logarítmica log₁₀(ρ) i el coeficient tèrmic quàntic α són suficients per separar completament els règims de transport.</a:t>
            </a:r>
            <a:endParaRPr sz="1800"/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  <a:defRPr>
                <a:latin typeface="Arial"/>
              </a:defRPr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✔  Validació rotunda:  100% de puresa en conductors i aïllants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