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en Nevada: a la izquierda los epicentros, a la derecha los clusters; en naranja los sospechosos y con un círculo negro las explosiones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1:</a:t>
            </a:r>
          </a:p>
          <a:p>
            <a:r>
              <a:t>Bon dia tribunal i companys. Sóc l'Uriel i presento la classificació no supervisada de materials elèctrics mitjançant DBSCAN.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2:</a:t>
            </a:r>
          </a:p>
          <a:p>
            <a:r>
              <a:t>Definim el problema físic a partir de les equacions de transport:</a:t>
            </a:r>
          </a:p>
          <a:p>
            <a:r>
              <a:t>- La variació tèrmica de la resistivitat rho(T) i la seva derivada tèrmica alfa.</a:t>
            </a:r>
          </a:p>
          <a:p>
            <a:r>
              <a:t>- Metalls: bandes solapades, electrons lliures, alfa positiu per xocs amb fonons de la xarxa.</a:t>
            </a:r>
          </a:p>
          <a:p>
            <a:r>
              <a:t>- Semiconductors: bandgap moderat, alfa negatiu per activació tèrmica exponencial segons Boltzmann.</a:t>
            </a:r>
          </a:p>
          <a:p>
            <a:r>
              <a:t>- Aïllants: bandgap colossal (&gt; 5 eV), sense portadors lliures a 300 K, alfa nul i resistivitat gegantina.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3:</a:t>
            </a:r>
          </a:p>
          <a:p>
            <a:r>
              <a:t>Disposem de 57 materials reals al dataset.</a:t>
            </a:r>
          </a:p>
          <a:p>
            <a:r>
              <a:t>A la dreta veiem l'espai bidimensional físic ABANS d'aplicar cap algorisme: els materials en brut sense etiquetes. El logaritme de resistivitat desplega els 30 ordres de magnitud i alfa separa els règims microscòpics.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4:</a:t>
            </a:r>
          </a:p>
          <a:p>
            <a:r>
              <a:t>DBSCAN vs. K-Means:</a:t>
            </a:r>
          </a:p>
          <a:p>
            <a:r>
              <a:t>Al gràfic de la dreta es veu clar: K-Means imposa fronteres esfèriques forçades. En tenir metalls ultra concentrats i aïllants dispersos, K-Means falla. DBSCAN segueix els camins de densitat natural i aïlla punts atípics com a soroll.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5:</a:t>
            </a:r>
          </a:p>
          <a:p>
            <a:r>
              <a:t>En metodologia: fórmules en LaTeX clares i netes.</a:t>
            </a:r>
          </a:p>
          <a:p>
            <a:r>
              <a:t>1. Escalat Z-Score manual amb NumPy per igualar variàncies.</a:t>
            </a:r>
          </a:p>
          <a:p>
            <a:r>
              <a:t>2. Criteri de nucli de DBSCAN: punts amb almenys min_samples veïns en radi èpsilon.</a:t>
            </a:r>
          </a:p>
          <a:p>
            <a:r>
              <a:t>3. Hiperparàmetres fixats rigorosament: min_samples=3 (dimensió + 1) i èpsilon=0.65 obtingut pel colze k-NN.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6:</a:t>
            </a:r>
          </a:p>
          <a:p>
            <a:r>
              <a:t>Aquest és el panell comparatiu d'abans i després en pantalla gran:</a:t>
            </a:r>
          </a:p>
          <a:p>
            <a:r>
              <a:t>- A l'esquerra: les 57 dades experimentals en brut tal com entren a l'algorisme, sense etiquetes de classe.</a:t>
            </a:r>
          </a:p>
          <a:p>
            <a:r>
              <a:t>- A la dreta: el descobriment autònom de les 3 classes físiques pures per connectivitat de densitat amb DBSCAN:</a:t>
            </a:r>
          </a:p>
          <a:p>
            <a:r>
              <a:t>  • Clúster 0 (ambre): 35 metalls conductors amb alfa &gt; 0.</a:t>
            </a:r>
          </a:p>
          <a:p>
            <a:r>
              <a:t>  • Clúster 1 (blau): 10 aïllants dielèctrics amb alfa proper a zero i resistivitat gegant.</a:t>
            </a:r>
          </a:p>
          <a:p>
            <a:r>
              <a:t>  • Clúster 2 (verd): 10 semiconductors per sota de la frontera física alfa = 0.</a:t>
            </a:r>
          </a:p>
          <a:p>
            <a:r>
              <a:t>- La línia d'alfa = 0 separa clarament la conducció per fonons de l'activació tèrmica.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7:</a:t>
            </a:r>
          </a:p>
          <a:p>
            <a:r>
              <a:t>Pel que fa a validació, la prova reina és la Matriu de Contingència Física:</a:t>
            </a:r>
          </a:p>
          <a:p>
            <a:r>
              <a:t>- 100% de puresa en conductors (35 de 35 metalls al clúster 0).</a:t>
            </a:r>
          </a:p>
          <a:p>
            <a:r>
              <a:t>- 100% de puresa en aïllants (10 de 10 dielèctrics al clúster 1).</a:t>
            </a:r>
          </a:p>
          <a:p>
            <a:r>
              <a:t>- En semiconductors, 10 de 12 materials purs formen el clúster 2. Els dos restants són semimetalls amb transport cuasimetàl·lic a 300 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8:</a:t>
            </a:r>
          </a:p>
          <a:p>
            <a:r>
              <a:t>Per concloure:</a:t>
            </a:r>
          </a:p>
          <a:p>
            <a:r>
              <a:t>1. DBSCAN demostra que la densitat espacial macroscòpica reflecteix fidelment la física quàntica de bandes.</a:t>
            </a:r>
          </a:p>
          <a:p>
            <a:r>
              <a:t>2. Ha demostrat ser l'eina adequada davant K-Means en tolerar densitats desiguals.</a:t>
            </a:r>
          </a:p>
          <a:p>
            <a:r>
              <a:t>3. Amb només dues variables físiques i una estandardització rigorosa, s'obté un 100% de puresa en conductors i aïllants.</a:t>
            </a:r>
          </a:p>
          <a:p>
            <a:r>
              <a:t>Moltes gràcies.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latin typeface="Arial"/>
              </a:defRPr>
            </a:pPr>
            <a:r>
              <a:rPr>
                <a:latin typeface="Arial"/>
              </a:rPr>
              <a:t>Aprendizaje no supervisado y detección de anomalías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55555"/>
                </a:solidFill>
                <a:latin typeface="Arial"/>
              </a:defRPr>
            </a:pPr>
            <a:r>
              <a:rPr>
                <a:latin typeface="Arial"/>
              </a:rPr>
              <a:t>CPIA · Grado en Ingeniería Física · UPC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latin typeface="Arial"/>
              </a:defRPr>
            </a:pPr>
            <a:r>
              <a:rPr>
                <a:latin typeface="Arial"/>
              </a:rPr>
              <a:t>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Qué vamos a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Clustering: K-Means, DBSCAN, jerárquico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Mezclas gaussianas (GaussianMixture) e Isolation Forest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Evaluar sin etiquetas: silhouette y método del codo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Cuatro problemas con aplicación física, uno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el equipo reparte quién explica la teoría de cada algoritmo]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Teoría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diapositivas de K-Means, DBSCAN, jerárquico, GMM, Isolation Forest, silhouette y codo]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¿terremoto o explosión nuclear?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Sismógrafos: mismos registros para terremotos y explosiones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usar la etiqueta, ¿puede un clustering señalarlas?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1: las pruebas se repiten en los mismos polígonos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2: ocurren casi en la superficie (mediana 0 km frente a 33 km)</a:t>
            </a:r>
          </a:p>
        </p:txBody>
      </p:sp>
      <p:pic>
        <p:nvPicPr>
          <p:cNvPr id="4" name="Picture 3" descr="cata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Catálogo USGS, M ≥ 4,5, 1951-2025, todos los tipos de evento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298 127 eventos; 614 etiquetados «nuclear explosion»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etiqueta solo se usa para evaluar, nunca para entrenar</a:t>
            </a:r>
          </a:p>
        </p:txBody>
      </p:sp>
      <p:pic>
        <p:nvPicPr>
          <p:cNvPr id="4" name="Picture 3" descr="profund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2743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Cómo se detecta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1. DBSCAN con distancia haversine (esfera)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2. Mediana de profundidad de cada cluster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3. Sospechoso si mediana en [dmin, dmax)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4. Comparar con la etiqueta: aciertos, falsos positivos (FP) y falsos negativos (FN)</a:t>
            </a:r>
          </a:p>
        </p:txBody>
      </p:sp>
      <p:pic>
        <p:nvPicPr>
          <p:cNvPr id="4" name="Picture 3" descr="deteccion_nev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53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Elegir y validar los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Parámetros fijos: eps = 25 km, vmin = 2, profundidad mediana en [0; 2,5) km (criterio físico)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eps = 25 km da el mínimo de falsos positivos (57) entre 5 y 100 km; es la única elección que mira la etiqueta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silueta no elige eps (es negativa y baja con eps); el codo de distancias k no marca un valor claro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 eps ≥ 50 km los grupos se funden con terremotos profundos: FP 453 (50 km) y FN 288 (75 km)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Estabilidad (ARI, muestra del 50 %): 0,54-0,64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nuke_optimizar.py se probó y se descartó: su ventana [0; 0,1) mide la convención del USGS</a:t>
            </a:r>
          </a:p>
        </p:txBody>
      </p:sp>
      <p:pic>
        <p:nvPicPr>
          <p:cNvPr id="4" name="Picture 3" descr="nukeval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41896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551 aciertos, 57 FP, 63 FN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Precisión 90,6 %  ·  recall 89,7 %  ·  F1 = 0,902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Globo interactivo: problemas/2_Nuclear/globo.html (4 vistas, sin internet)</a:t>
            </a:r>
          </a:p>
        </p:txBody>
      </p:sp>
      <p:pic>
        <p:nvPicPr>
          <p:cNvPr id="4" name="Picture 3" descr="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Limitaciones (preguntas probables)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vmin = 2: los sismos aislados son ruido. Con vmin = 1 hay 28 FN pero 115 FP (F1 0,891): compromiso precisión-recall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conjunto de prueba separado: se ajusta y se evalúa en el mismo catálogo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El 85 % de las explosiones figura con profundidad 0,0 km en el USGS: una ventana [0; 0,1) daría F1 0,922, pero mediría esa convención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57 FP: 14 son otros eventos no sísmicos (explosiones, minas); sin ellos serían 43 y F1 0,912. 40 de los 63 FN son explosiones aisladas (ruido)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Algunas pruebas oficiales figuran como earthquake (error de la etiqueta)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No usamos año ni número de estaciones: delatarían la época, no la física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Martí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1188720" y="1188720"/>
            <a:ext cx="9784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37360"/>
            <a:ext cx="9784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Classificació de Materials Elèctrics mitjançant DBSCAN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Classificació de materials Conductors, Semiconductors i Aïllants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297680"/>
            <a:ext cx="97840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Uriel · Grau en Enginyeria Física (UPC)</a:t>
            </a:r>
          </a:p>
          <a:p>
            <a:pPr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Equip: Matías · Martí · Uriel · Arnau Montull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El Problema Físic: Estructura de Bandes i Signatures Tèrmiques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10728655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Equacions Macroscòpiques de Transport Elèctric:</a:t>
            </a:r>
          </a:p>
        </p:txBody>
      </p:sp>
      <p:pic>
        <p:nvPicPr>
          <p:cNvPr id="6" name="Picture 5" descr="formula_transp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664208"/>
            <a:ext cx="7772400" cy="1248039"/>
          </a:xfrm>
          <a:prstGeom prst="rect">
            <a:avLst/>
          </a:prstGeom>
        </p:spPr>
      </p:pic>
      <p:pic>
        <p:nvPicPr>
          <p:cNvPr id="7" name="Picture 6" descr="esquema_bandas_materia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06040"/>
            <a:ext cx="10728655" cy="380084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Dataset Experimental i Espai de Treball (log₁₀ρ, α)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2062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Com classificar sense etiquetes?</a:t>
            </a:r>
          </a:p>
        </p:txBody>
      </p:sp>
      <p:pic>
        <p:nvPicPr>
          <p:cNvPr id="6" name="Picture 5" descr="formula_coorden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3749039" cy="6709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57 Materials reals: Metalls purs, aliatges, semiconductors i dielèctrics.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30 ordres de magnitud: De conductors (~10⁻⁸ Ω·m) a tefló (&gt; 10²² Ω·m).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Compressió logarítmica: Evita el col·lapse numèric a l'origen.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Signatura quàntica: α indica l'origen microscòpic del transport.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Dades sense etiquetar: L'algorisme ha de descobrir l'estructura sol.</a:t>
            </a:r>
          </a:p>
        </p:txBody>
      </p:sp>
      <p:pic>
        <p:nvPicPr>
          <p:cNvPr id="8" name="Picture 7" descr="materiales_antes_cluste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463040"/>
            <a:ext cx="6309360" cy="41010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DBSCAN vs. K-Means?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K-Means (Inadequat en aquest domini)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Assumeix grups esfèrics i isodensos (igual variància).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Fractura el grup dispers d'aïllants.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Exigeix prefixar 'k' a priori de forma arbitrària.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No detecta soroll: força anomalies a tenir clúster.</a:t>
            </a:r>
          </a:p>
          <a:p>
            <a:br/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DBSCAN (Elecció Òptima)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Connecta per densitat local de qualsevol forma.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Tolera metalls hiperdensos i aïllants laxos.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Descobreix el nombre de clústers sense prefixar k.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Etiqueta soroll i anomalies de forma nativa (-1).</a:t>
            </a:r>
          </a:p>
        </p:txBody>
      </p:sp>
      <p:pic>
        <p:nvPicPr>
          <p:cNvPr id="6" name="Picture 5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126480" cy="253722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Metodologia Matemàtica: Fórmules i Paràmetres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1. Estandardització Z-Score</a:t>
            </a:r>
            <a:br/>
            <a:r>
              <a:rPr>
                <a:latin typeface="Arial"/>
              </a:rPr>
              <a:t>(Implementada amb NumPy)</a:t>
            </a:r>
          </a:p>
        </p:txBody>
      </p:sp>
      <p:pic>
        <p:nvPicPr>
          <p:cNvPr id="6" name="Picture 5" descr="formula_z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31720"/>
            <a:ext cx="3063240" cy="5558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μ = Mitjana mostral per columna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σ = Desviació estàndard típica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Resultat: Mitjana = 0, Variància = 1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Imprescindible: equipara el rang de log₁₀ρ (~31) amb el d'α (~0.08) per a la distància euclidiana.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61772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2. Criteri de Nucli</a:t>
            </a:r>
            <a:br/>
            <a:r>
              <a:rPr>
                <a:latin typeface="Arial"/>
              </a:rPr>
              <a:t>(DBSCAN Espacial)</a:t>
            </a:r>
          </a:p>
        </p:txBody>
      </p:sp>
      <p:pic>
        <p:nvPicPr>
          <p:cNvPr id="10" name="Picture 9" descr="formula_nucl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331720"/>
            <a:ext cx="3063240" cy="55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1772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d(p, q) = Distància Euclidiana en 2D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Punt Nucli (Core Point):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|N_ε(p)| ≥ min_samples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Punt Frontera (Border):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Assolible des d'un nucli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Soroll (Noise):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No assolible (|N_ε| &lt; min_samples)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32104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3. Paràmetres Fixats</a:t>
            </a:r>
            <a:br/>
            <a:r>
              <a:rPr>
                <a:latin typeface="Arial"/>
              </a:rPr>
              <a:t>(Criteri Objectiu)</a:t>
            </a:r>
          </a:p>
        </p:txBody>
      </p:sp>
      <p:pic>
        <p:nvPicPr>
          <p:cNvPr id="14" name="Picture 13" descr="formula_paramet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2331720"/>
            <a:ext cx="3063240" cy="52177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2104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min_samples = 3: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Regla canònica k ≥ d + 1 (dimensió d = 2).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ε = 0.65: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Determinat mitjançant gràfic k-NN (colze).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Finestra òptima que aïlla aïllants sense fusionar metalls.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Execució: scikit-learn DBSCAN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Resultat DBSCAN: Abans i Després de l'Agrupament</a:t>
            </a:r>
          </a:p>
          <a:p>
            <a:pPr>
              <a:defRPr sz="13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Dades Experimentals en Brut vs. 3 Clústers Purs Descoberts (ε = 0.65, min_samples = 3)</a:t>
            </a:r>
          </a:p>
        </p:txBody>
      </p:sp>
      <p:pic>
        <p:nvPicPr>
          <p:cNvPr id="3" name="Picture 2" descr="comparativa_abans_despr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728655" cy="415735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Validació Experimental: Matriu de Contingència Física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Conductors (Metalls)</a:t>
            </a:r>
          </a:p>
          <a:p>
            <a:pPr algn="ctr"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35 / 35</a:t>
            </a:r>
          </a:p>
          <a:p>
            <a:pPr algn="ctr"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100 % Puresa</a:t>
            </a:r>
          </a:p>
          <a:p>
            <a:br/>
            <a:pPr>
              <a:defRPr sz="13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Assignats íntegrament al Clúster 0. Zero falsos negatius.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617720" y="1783080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Aïllants (Dielèctrics)</a:t>
            </a:r>
          </a:p>
          <a:p>
            <a:pPr algn="ctr"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/ 10</a:t>
            </a:r>
          </a:p>
          <a:p>
            <a:pPr algn="ctr"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100 % Puresa</a:t>
            </a:r>
          </a:p>
          <a:p>
            <a:br/>
            <a:pPr>
              <a:defRPr sz="13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Assignats íntegrament al Clúster 1. Coincidència total amb la física.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321040" y="1783080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Semiconductors</a:t>
            </a:r>
          </a:p>
          <a:p>
            <a:pPr algn="ctr"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/ 12</a:t>
            </a:r>
          </a:p>
          <a:p>
            <a:pPr algn="ctr"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83.3 % Puresa</a:t>
            </a:r>
          </a:p>
          <a:p>
            <a:br/>
            <a:pPr>
              <a:defRPr sz="12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al Clúster 2. 2 semimetalls classificats al clúster 0 per conducció cuasimetàl·lica.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Conclusions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554480"/>
            <a:ext cx="999713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463040" y="1920240"/>
            <a:ext cx="9235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5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Física de bandes sense supervisió:  DBSCAN descobreix de manera autònoma les 3 fases de conducció (conductors, aïllants i semiconductors) a partir de propietats macroscòpiques.</a:t>
            </a:r>
          </a:p>
          <a:p>
            <a:pPr>
              <a:spcAft>
                <a:spcPts val="1600"/>
              </a:spcAft>
              <a:defRPr sz="15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Immune a densitats dispars:  Supera K-Means agrupant simultàniament la ultradensitat dels metalls i la dispersió de 12 ordres de magnitud dels aïllants.</a:t>
            </a:r>
          </a:p>
          <a:p>
            <a:pPr>
              <a:spcAft>
                <a:spcPts val="1600"/>
              </a:spcAft>
              <a:defRPr sz="15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Variables òptimes:  L'escala logarítmica log₁₀(ρ) i el coeficient tèrmic quàntic α són suficients per separar completament els règims de transport.</a:t>
            </a:r>
          </a:p>
          <a:p>
            <a:pPr>
              <a:spcAft>
                <a:spcPts val="1600"/>
              </a:spcAft>
              <a:defRPr sz="15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Validació rotunda:  100% de puresa en conductors i aïllants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comparativa del equipo: qué algoritmo funcionó mejor y por qué]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Código y documento de descripción entregados en Atenea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