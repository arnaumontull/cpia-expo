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Zoom en Nevada: a la izquierda los epicentros, a la derecha los clusters; en morado los sospechosos.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0" b="1"/>
            </a:pPr>
            <a:r>
              <a:t>Aprendizaje no supervisado y detección de anomalías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555555"/>
                </a:solidFill>
              </a:defRPr>
            </a:pPr>
            <a:r>
              <a:t>CPIA · Grado en Ingeniería Física · UPC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/>
            </a:pPr>
            <a:r>
              <a:t>Matías · Martí · Uriel · Arnau Montull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/>
            </a:pPr>
            <a:r>
              <a:t>Qué vamos a 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/>
            </a:pPr>
            <a:r>
              <a:t>• Clustering: K-Means, DBSCAN, jerárquico</a:t>
            </a:r>
          </a:p>
          <a:p>
            <a:pPr>
              <a:spcAft>
                <a:spcPts val="800"/>
              </a:spcAft>
              <a:defRPr sz="2000" b="0"/>
            </a:pPr>
            <a:r>
              <a:t>• Mezclas gaussianas (GaussianMixture) e Isolation Forest</a:t>
            </a:r>
          </a:p>
          <a:p>
            <a:pPr>
              <a:spcAft>
                <a:spcPts val="800"/>
              </a:spcAft>
              <a:defRPr sz="2000" b="0"/>
            </a:pPr>
            <a:r>
              <a:t>• Evaluar sin etiquetas: silhouette y método del codo</a:t>
            </a:r>
          </a:p>
          <a:p>
            <a:pPr>
              <a:spcAft>
                <a:spcPts val="800"/>
              </a:spcAft>
              <a:defRPr sz="2000" b="0"/>
            </a:pPr>
            <a:r>
              <a:t>• Cuatro problemas con aplicación física, uno por persona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B03030"/>
                </a:solidFill>
              </a:defRPr>
            </a:pPr>
            <a:r>
              <a:t>[PENDIENTE: el equipo reparte quién explica la teoría de cada algoritmo]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/>
            </a:pPr>
            <a:r>
              <a:t>Teoría común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B03030"/>
                </a:solidFill>
              </a:defRPr>
            </a:pPr>
            <a:r>
              <a:t>[PENDIENTE: diapositivas de K-Means, DBSCAN, jerárquico, GMM, Isolation Forest, silhouette y codo]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/>
            </a:pPr>
            <a:r>
              <a:t>Problema: ¿terremoto o explosión nuclear?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/>
            </a:pPr>
            <a:r>
              <a:t>• Sismógrafos: mismos registros para terremotos y explosiones</a:t>
            </a:r>
          </a:p>
          <a:p>
            <a:pPr>
              <a:spcAft>
                <a:spcPts val="800"/>
              </a:spcAft>
              <a:defRPr sz="2000" b="0"/>
            </a:pPr>
            <a:r>
              <a:t>• Sin usar la etiqueta, ¿puede un clustering señalarlas?</a:t>
            </a:r>
          </a:p>
          <a:p>
            <a:pPr>
              <a:spcAft>
                <a:spcPts val="800"/>
              </a:spcAft>
              <a:defRPr sz="2000" b="0"/>
            </a:pPr>
            <a:r>
              <a:t>• Pista 1: las pruebas se repiten en los mismos polígonos</a:t>
            </a:r>
          </a:p>
          <a:p>
            <a:pPr>
              <a:spcAft>
                <a:spcPts val="800"/>
              </a:spcAft>
              <a:defRPr sz="2000" b="0"/>
            </a:pPr>
            <a:r>
              <a:t>• Pista 2: ocurren casi en la superficie (mediana 0 km frente a 22 km)</a:t>
            </a:r>
          </a:p>
        </p:txBody>
      </p:sp>
      <p:pic>
        <p:nvPicPr>
          <p:cNvPr id="4" name="Picture 3" descr="cat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71600"/>
            <a:ext cx="65836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/>
            </a:pPr>
            <a:r>
              <a:t>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/>
            </a:pPr>
            <a:r>
              <a:t>• Catálogo USGS, M ≥ 4,5, 1951-2025</a:t>
            </a:r>
          </a:p>
          <a:p>
            <a:pPr>
              <a:spcAft>
                <a:spcPts val="800"/>
              </a:spcAft>
              <a:defRPr sz="2000" b="0"/>
            </a:pPr>
            <a:r>
              <a:t>• 298 025 eventos; 614 etiquetados «nuclear explosion»</a:t>
            </a:r>
          </a:p>
          <a:p>
            <a:pPr>
              <a:spcAft>
                <a:spcPts val="800"/>
              </a:spcAft>
              <a:defRPr sz="2000" b="0"/>
            </a:pPr>
            <a:r>
              <a:t>• La etiqueta solo se usa para evaluar, nunca para entrenar</a:t>
            </a:r>
          </a:p>
        </p:txBody>
      </p:sp>
      <p:pic>
        <p:nvPicPr>
          <p:cNvPr id="4" name="Picture 3" descr="profund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71600"/>
            <a:ext cx="6583680" cy="22743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/>
            </a:pPr>
            <a:r>
              <a:t>Cómo se detecta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/>
            </a:pPr>
            <a:r>
              <a:t>• 1. DBSCAN con distancia haversine (esfera)</a:t>
            </a:r>
          </a:p>
          <a:p>
            <a:pPr>
              <a:spcAft>
                <a:spcPts val="800"/>
              </a:spcAft>
              <a:defRPr sz="2000" b="0"/>
            </a:pPr>
            <a:r>
              <a:t>• 2. Mediana de profundidad de cada cluster</a:t>
            </a:r>
          </a:p>
          <a:p>
            <a:pPr>
              <a:spcAft>
                <a:spcPts val="800"/>
              </a:spcAft>
              <a:defRPr sz="2000" b="0"/>
            </a:pPr>
            <a:r>
              <a:t>• 3. Sospechoso si mediana en [dmin, dmax)</a:t>
            </a:r>
          </a:p>
          <a:p>
            <a:pPr>
              <a:spcAft>
                <a:spcPts val="800"/>
              </a:spcAft>
              <a:defRPr sz="2000" b="0"/>
            </a:pPr>
            <a:r>
              <a:t>• 4. Comparar con la etiqueta: aciertos, falsos positivos (FP) y falsos negativos (FN)</a:t>
            </a:r>
          </a:p>
        </p:txBody>
      </p:sp>
      <p:pic>
        <p:nvPicPr>
          <p:cNvPr id="4" name="Picture 3" descr="deteccion_nev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71600"/>
            <a:ext cx="6583680" cy="2753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/>
            </a:pPr>
            <a:r>
              <a:t>Elegir y validar los parámetros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/>
            </a:pPr>
            <a:r>
              <a:t>• Parámetros fijos: eps = 25 km, vmin = 1, profundidad mediana en [0; 2,5) km (criterio físico)</a:t>
            </a:r>
          </a:p>
          <a:p>
            <a:pPr>
              <a:spcAft>
                <a:spcPts val="800"/>
              </a:spcAft>
              <a:defRPr sz="2000" b="0"/>
            </a:pPr>
            <a:r>
              <a:t>• eps = 25 km da el mínimo de falsos positivos (91) entre 5 y 100 km; es la única elección que mira la etiqueta</a:t>
            </a:r>
          </a:p>
          <a:p>
            <a:pPr>
              <a:spcAft>
                <a:spcPts val="800"/>
              </a:spcAft>
              <a:defRPr sz="2000" b="0"/>
            </a:pPr>
            <a:r>
              <a:t>• La silueta no elige eps (es negativa y baja con eps); el codo de distancias k no marca un valor claro</a:t>
            </a:r>
          </a:p>
          <a:p>
            <a:pPr>
              <a:spcAft>
                <a:spcPts val="800"/>
              </a:spcAft>
              <a:defRPr sz="2000" b="0"/>
            </a:pPr>
            <a:r>
              <a:t>• Con eps ≥ 50 km los grupos se funden con terremotos profundos: FP 460 (50 km) y FN 261 (75 km)</a:t>
            </a:r>
          </a:p>
          <a:p>
            <a:pPr>
              <a:spcAft>
                <a:spcPts val="800"/>
              </a:spcAft>
              <a:defRPr sz="2000" b="0"/>
            </a:pPr>
            <a:r>
              <a:t>• Estabilidad (ARI, muestra del 50 %): 0,52-0,62</a:t>
            </a:r>
          </a:p>
          <a:p>
            <a:pPr>
              <a:spcAft>
                <a:spcPts val="800"/>
              </a:spcAft>
              <a:defRPr sz="2000" b="0"/>
            </a:pPr>
            <a:r>
              <a:t>• nuke_optimizar.py se probó y se descartó: su ventana [0; 0,1) mide la convención del USGS</a:t>
            </a:r>
          </a:p>
        </p:txBody>
      </p:sp>
      <p:pic>
        <p:nvPicPr>
          <p:cNvPr id="4" name="Picture 3" descr="nukeval_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71600"/>
            <a:ext cx="6583680" cy="1786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/>
            </a:pPr>
            <a:r>
              <a:t>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/>
            </a:pPr>
            <a:r>
              <a:t>• 586 aciertos, 91 FP, 28 FN</a:t>
            </a:r>
          </a:p>
          <a:p>
            <a:pPr>
              <a:spcAft>
                <a:spcPts val="800"/>
              </a:spcAft>
              <a:defRPr sz="2000" b="0"/>
            </a:pPr>
            <a:r>
              <a:t>• Precisión 86,6 %  ·  recall 95,4 %  ·  F1 = 0,908</a:t>
            </a:r>
          </a:p>
          <a:p>
            <a:pPr>
              <a:spcAft>
                <a:spcPts val="800"/>
              </a:spcAft>
              <a:defRPr sz="2000" b="0"/>
            </a:pPr>
            <a:r>
              <a:t>• Globo interactivo: problemas/2_Nuclear/globo.html (4 vistas, sin internet)</a:t>
            </a:r>
          </a:p>
        </p:txBody>
      </p:sp>
      <p:pic>
        <p:nvPicPr>
          <p:cNvPr id="4" name="Picture 3" descr="resul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71600"/>
            <a:ext cx="65836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/>
            </a:pPr>
            <a:r>
              <a:t>Limitaciones (preguntas probables)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/>
            </a:pPr>
            <a:r>
              <a:t>• vmin = 1: no hay ruido; la selección real la hace la profundidad. Con vmin = 3, F1 baja a 0,910</a:t>
            </a:r>
          </a:p>
          <a:p>
            <a:pPr>
              <a:spcAft>
                <a:spcPts val="800"/>
              </a:spcAft>
              <a:defRPr sz="2000" b="0"/>
            </a:pPr>
            <a:r>
              <a:t>• Mismos parámetros en los dos catálogos: F1 0,908 (grande) y 0,955 (pequeño); sin conjunto de prueba separado</a:t>
            </a:r>
          </a:p>
          <a:p>
            <a:pPr>
              <a:spcAft>
                <a:spcPts val="800"/>
              </a:spcAft>
              <a:defRPr sz="2000" b="0"/>
            </a:pPr>
            <a:r>
              <a:t>• El 85 % de las explosiones figura con profundidad 0,0 km en el USGS: una ventana [0; 0,1) daría F1 0,947, pero mediría esa convención</a:t>
            </a:r>
          </a:p>
          <a:p>
            <a:pPr>
              <a:spcAft>
                <a:spcPts val="800"/>
              </a:spcAft>
              <a:defRPr sz="2000" b="0"/>
            </a:pPr>
            <a:r>
              <a:t>• FP: terremotos muy superficiales y explosiones de minas; algunas pruebas oficiales figuran como earthquake</a:t>
            </a:r>
          </a:p>
          <a:p>
            <a:pPr>
              <a:spcAft>
                <a:spcPts val="800"/>
              </a:spcAft>
              <a:defRPr sz="2000" b="0"/>
            </a:pPr>
            <a:r>
              <a:t>• No usamos año ni número de estaciones: delatarían la época, no la física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/>
            </a:pPr>
            <a:r>
              <a:t>Problema de Matías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B03030"/>
                </a:solidFill>
              </a:defRPr>
            </a:pPr>
            <a:r>
              <a:t>[PENDIENTE: título, datos, método, resultado, figuras]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/>
            </a:pPr>
            <a:r>
              <a:t>Problema de Martí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B03030"/>
                </a:solidFill>
              </a:defRPr>
            </a:pPr>
            <a:r>
              <a:t>[PENDIENTE: título, datos, método, resultado, figuras]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/>
            </a:pPr>
            <a:r>
              <a:t>Problema de Uriel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B03030"/>
                </a:solidFill>
              </a:defRPr>
            </a:pPr>
            <a:r>
              <a:t>[PENDIENTE: título, datos, método, resultado, figuras]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/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B03030"/>
                </a:solidFill>
              </a:defRPr>
            </a:pPr>
            <a:r>
              <a:t>[PENDIENTE: comparativa del equipo: qué algoritmo funcionó mejor y por qué]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/>
            </a:pPr>
            <a:r>
              <a:t>Preguntas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/>
            </a:pPr>
            <a:r>
              <a:t>• Código y documento de descripción entregados en Atenea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