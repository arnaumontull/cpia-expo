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/>
            </a:pPr>
            <a: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</a:defRPr>
            </a:pPr>
            <a: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/>
            </a:pPr>
            <a: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Clustering: K-Means, DBSCAN, jerárquico</a:t>
            </a:r>
          </a:p>
          <a:p>
            <a:pPr>
              <a:spcAft>
                <a:spcPts val="800"/>
              </a:spcAft>
              <a:defRPr sz="2000" b="0"/>
            </a:pPr>
            <a: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/>
            </a:pPr>
            <a: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/>
            </a:pPr>
            <a: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/>
            </a:pPr>
            <a: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/>
            </a:pPr>
            <a: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/>
            </a:pPr>
            <a: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Catálogo USGS, M ≥ 4,5, 1951-2025</a:t>
            </a:r>
          </a:p>
          <a:p>
            <a:pPr>
              <a:spcAft>
                <a:spcPts val="800"/>
              </a:spcAft>
              <a:defRPr sz="2000" b="0"/>
            </a:pPr>
            <a: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/>
            </a:pPr>
            <a: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217920" cy="33754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1. DBSCAN con distancia haversine (esfera)</a:t>
            </a:r>
          </a:p>
          <a:p>
            <a:pPr>
              <a:spcAft>
                <a:spcPts val="800"/>
              </a:spcAft>
              <a:defRPr sz="2000" b="0"/>
            </a:pPr>
            <a:r>
              <a:t>• 2. Mediana de profundidad de cada cluster</a:t>
            </a:r>
          </a:p>
          <a:p>
            <a:pPr>
              <a:spcAft>
                <a:spcPts val="800"/>
              </a:spcAft>
              <a:defRPr sz="2000" b="0"/>
            </a:pPr>
            <a:r>
              <a:t>• 3. Sospechoso si mediana en [dmin, dmax)</a:t>
            </a:r>
          </a:p>
          <a:p>
            <a:pPr>
              <a:spcAft>
                <a:spcPts val="800"/>
              </a:spcAft>
              <a:defRPr sz="2000" b="0"/>
            </a:pPr>
            <a: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Optimizador por F1 (con etiquetas): DBSCAN una vez por (eps, vmin) y todas las ventanas de profundidad</a:t>
            </a:r>
          </a:p>
          <a:p>
            <a:pPr>
              <a:spcAft>
                <a:spcPts val="800"/>
              </a:spcAft>
              <a:defRPr sz="2000" b="0"/>
            </a:pPr>
            <a:r>
              <a:t>• Óptimo: eps = 25 km, vmin = 1, profundidad [0; 0,1) km</a:t>
            </a:r>
          </a:p>
          <a:p>
            <a:pPr>
              <a:spcAft>
                <a:spcPts val="800"/>
              </a:spcAft>
              <a:defRPr sz="2000" b="0"/>
            </a:pPr>
            <a: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/>
            </a:pPr>
            <a:r>
              <a:t>• Con eps ≥ 50 km los FN se disparan (261): los grupos se funden con terremotos profundos</a:t>
            </a:r>
          </a:p>
          <a:p>
            <a:pPr>
              <a:spcAft>
                <a:spcPts val="800"/>
              </a:spcAft>
              <a:defRPr sz="2000" b="0"/>
            </a:pPr>
            <a:r>
              <a:t>• Estabilidad (ARI, muestra del 50 %): 0,52-0,62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585 aciertos, 36 FP, 29 FN</a:t>
            </a:r>
          </a:p>
          <a:p>
            <a:pPr>
              <a:spcAft>
                <a:spcPts val="800"/>
              </a:spcAft>
              <a:defRPr sz="2000" b="0"/>
            </a:pPr>
            <a:r>
              <a:t>• Precisión 94,2 %  ·  recall 95,3 %  ·  F1 = 0,947</a:t>
            </a:r>
          </a:p>
          <a:p>
            <a:pPr>
              <a:spcAft>
                <a:spcPts val="800"/>
              </a:spcAft>
              <a:defRPr sz="2000" b="0"/>
            </a:pPr>
            <a: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vmin = 1: no hay ruido; la selección real la hace la profundidad. Con vmin = 3, F1 baja a 0,928</a:t>
            </a:r>
          </a:p>
          <a:p>
            <a:pPr>
              <a:spcAft>
                <a:spcPts val="800"/>
              </a:spcAft>
              <a:defRPr sz="2000" b="0"/>
            </a:pPr>
            <a:r>
              <a:t>• Sobreajuste: parámetros elegidos y evaluados con los mismos datos. Cruzado entre catálogos: F1 0,855 (pequeño→grande) y 0,977 (grande→pequeño)</a:t>
            </a:r>
          </a:p>
          <a:p>
            <a:pPr>
              <a:spcAft>
                <a:spcPts val="800"/>
              </a:spcAft>
              <a:defRPr sz="2000" b="0"/>
            </a:pPr>
            <a: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/>
            </a:pPr>
            <a: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Uriel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