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en Nevada: a la izquierda los epicentros, a la derecha los clusters; en morado los sospechosos.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Estructura de bandes i variació tèrmica: el signe i la magnitud d'alfa delaten la física microscòpica.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Comparativa d'escala: la compressió logarítmica és imprescindible perquè metalls i aïllants coexisteixin.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K-Means assumeix variàncies similars i falla; DBSCAN connecta per densitat i respecta la dispersió natural.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Resultat gràfic: el pla 2D mostra la separació nítida de les tres 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latin typeface="Arial"/>
              </a:defRPr>
            </a:pPr>
            <a:r>
              <a:rPr>
                <a:latin typeface="Arial"/>
              </a:rPr>
              <a:t>Aprendizaje no supervisado y detección de anomalías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555555"/>
                </a:solidFill>
                <a:latin typeface="Arial"/>
              </a:defRPr>
            </a:pPr>
            <a:r>
              <a:rPr>
                <a:latin typeface="Arial"/>
              </a:rPr>
              <a:t>CPIA · Grado en Ingeniería Física · UPC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latin typeface="Arial"/>
              </a:defRPr>
            </a:pPr>
            <a:r>
              <a:rPr>
                <a:latin typeface="Arial"/>
              </a:rPr>
              <a:t>Matías · Martí · Uriel · Arnau Montull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Qué vamos a 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Clustering: K-Means, DBSCAN, jerárquico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Mezclas gaussianas (GaussianMixture) e Isolation Forest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Evaluar sin etiquetas: silhouette y método del codo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Cuatro problemas con aplicación física, uno por 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el equipo reparte quién explica la teoría de cada algoritmo]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Teoría común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diapositivas de K-Means, DBSCAN, jerárquico, GMM, Isolation Forest, silhouette y codo]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Problema: ¿terremoto o explosión nuclear?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Sismógrafos: mismos registros para terremotos y explosiones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Sin usar la etiqueta, ¿puede un clustering señalarlas?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Pista 1: las pruebas se repiten en los mismos polígonos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Pista 2: ocurren casi en la superficie (mediana 0 km frente a 33 km)</a:t>
            </a:r>
          </a:p>
        </p:txBody>
      </p:sp>
      <p:pic>
        <p:nvPicPr>
          <p:cNvPr id="4" name="Picture 3" descr="cata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Catálogo USGS, M ≥ 4,5, 1951-2025, todos los tipos de evento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298 127 eventos; 614 etiquetados «nuclear explosion»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La etiqueta solo se usa para evaluar, nunca para entrenar</a:t>
            </a:r>
          </a:p>
        </p:txBody>
      </p:sp>
      <p:pic>
        <p:nvPicPr>
          <p:cNvPr id="4" name="Picture 3" descr="profund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2743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Cómo se detecta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1. DBSCAN con distancia haversine (esfera)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2. Mediana de profundidad de cada cluster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3. Sospechoso si mediana en [dmin, dmax)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4. Comparar con la etiqueta: aciertos, falsos positivos (FP) y falsos negativos (FN)</a:t>
            </a:r>
          </a:p>
        </p:txBody>
      </p:sp>
      <p:pic>
        <p:nvPicPr>
          <p:cNvPr id="4" name="Picture 3" descr="deteccion_nev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531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Elegir y validar los parámetros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Parámetros fijos: eps = 25 km, vmin = 1, profundidad mediana en [0; 2,5) km (criterio físico)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eps = 25 km da el mínimo de falsos positivos (115) entre 5 y 100 km; es la única elección que mira la etiqueta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La silueta no elige eps (es negativa y baja con eps); el codo de distancias k no marca un valor claro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 eps ≥ 50 km los grupos se funden con terremotos profundos: FP 483 (50 km) y FN 261 (75 km)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Estabilidad (ARI, muestra del 50 %): 0,54-0,65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nuke_optimizar.py se probó y se descartó: su ventana [0; 0,1) mide la convención del USGS</a:t>
            </a:r>
          </a:p>
        </p:txBody>
      </p:sp>
      <p:pic>
        <p:nvPicPr>
          <p:cNvPr id="4" name="Picture 3" descr="nukeval_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17869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586 aciertos, 115 FP, 28 FN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Precisión 83,6 %  ·  recall 95,4 %  ·  F1 = 0,891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Globo interactivo: problemas/2_Nuclear/globo.html (4 vistas, sin internet)</a:t>
            </a:r>
          </a:p>
        </p:txBody>
      </p:sp>
      <p:pic>
        <p:nvPicPr>
          <p:cNvPr id="4" name="Picture 3" descr="resul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Limitaciones (preguntas probables)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vmin = 1: no hay ruido; la selección real la hace la profundidad. Con vmin = 3, F1 baja a 0,899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Sin conjunto de prueba separado: se ajusta y se evalúa en el mismo catálogo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El 85 % de las explosiones figura con profundidad 0,0 km en el USGS: una ventana [0; 0,1) daría F1 0,931, pero mediría esa convención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115 FP: 24 son otros eventos no sísmicos (explosiones, minas); sin ellos serían 91 y F1 0,908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Algunas pruebas oficiales figuran como earthquake (error de la etiqueta)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No usamos año ni número de estaciones: delatarían la época, no la física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 de Matías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 de Martí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Problema: 3 famílies i signatures tèrmiques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Conducció segons l'estructura quàntica de bandes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Variació tèrmica: ρ(T) = ρ₀ · [1 + α·(T - T₀)]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Coeficient tèrmic: α = (1 / ρ₀) · (dρ / dT)₃₀₀K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Metalls (α &gt; 0) · Semiconductors (α &lt; 0) · Aïllants (α ≈ 0)</a:t>
            </a:r>
          </a:p>
        </p:txBody>
      </p:sp>
      <p:pic>
        <p:nvPicPr>
          <p:cNvPr id="4" name="Picture 3" descr="esquema_bandas_materi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3324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Dataset i espai (log₁₀ρ, α)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57 materials reals recopilats experimentalment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30 ordres de magnitud en resistivitat (10⁻⁸ a 10²² Ω·m)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Escala lineal col·lapsa a l'origen; log₁₀(ρ) separa les fases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Clustering no supervisat: descobrir les classes sense etiquetes</a:t>
            </a:r>
          </a:p>
        </p:txBody>
      </p:sp>
      <p:pic>
        <p:nvPicPr>
          <p:cNvPr id="4" name="Picture 3" descr="distribucion_escala_r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46056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Per què DBSCAN enfront de K-Means?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✖ K-Means: assumeix esfericitat, fractura aïllants i no aïlla soroll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✔ DBSCAN: connecta per densitat local i tolera densitats desiguals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Metalls hiperdensos vs aïllants estesos en 12 ordres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DBSCAN detecta anomalies de manera nativa (etiqueta -1)</a:t>
            </a:r>
          </a:p>
        </p:txBody>
      </p:sp>
      <p:pic>
        <p:nvPicPr>
          <p:cNvPr id="4" name="Picture 3" descr="comparativa_kmean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2657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Metodologia: Fórmules i paràmetres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Estandardització manual Z-Score amb NumPy: Z = (X - μ) / σ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Veïnat: N_ε(p) = { q | d(p, q) ≤ ε }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Nucli (Core Point): |N_ε(p)| ≥ min_samples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Paràmetres fixats: ε = 0,65 (colze k-NN) i min_samples = 3 (d = 2)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Resultat: DBSCAN en 57 materials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 clústers purs descoberts per densitat: 0 soroll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Clúster 0 (ambre): 35 metalls conductors (Cu, Ag, Au...)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Clúster 1 (blau): 10 aïllants dielèctrics (vidre, tefló...)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Clúster 2 (verd): 10 semiconductors (Si, Ge, GaAs...)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Frontera α = 0: fonons vs activació tèrmica</a:t>
            </a:r>
          </a:p>
        </p:txBody>
      </p:sp>
      <p:pic>
        <p:nvPicPr>
          <p:cNvPr id="4" name="Picture 3" descr="clusters_materiale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427939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Validació física: Matriu de contingència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Conductors: 35 de 35 (100 % puresa al Clúster 0)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Aïllants: 10 de 10 (100 % puresa al Clúster 1)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Semiconductors: 10 de 12 (83,3 % puresa al Clúster 2; 2 semimetalls al clúster 0)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Silhouette Score complementari: 0,7858 (alta cohesió interna)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comparativa del equipo: qué algoritmo funcionó mejor y por qué]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Código y documento de descripción entregados en Atenea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