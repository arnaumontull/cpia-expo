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morado los sospechosos.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Uriel presenta el problema: la resistividad macroscópica y su derivada térmica frente a temperatura identifican si un material es conductor, semiconductor o aislante.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Explicación de la estandarización Z manual con NumPy y la justificación matemática de los hiperparámetros.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gráfico muestra la clara separación; la línea discontinua de alfa = 0 separa el régimen de fonones del de activación térmica.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/>
            </a:pPr>
            <a: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</a:defRPr>
            </a:pPr>
            <a: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/>
            </a:pPr>
            <a: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Clustering: K-Means, DBSCAN, jerárquico</a:t>
            </a:r>
          </a:p>
          <a:p>
            <a:pPr>
              <a:spcAft>
                <a:spcPts val="800"/>
              </a:spcAft>
              <a:defRPr sz="2000" b="0"/>
            </a:pPr>
            <a: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/>
            </a:pPr>
            <a: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/>
            </a:pPr>
            <a: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/>
            </a:pPr>
            <a: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/>
            </a:pPr>
            <a: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/>
            </a:pPr>
            <a:r>
              <a:t>• Pista 2: ocurren casi en la superficie (mediana 0 km frente a 22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Catálogo USGS, M ≥ 4,5, 1951-2025</a:t>
            </a:r>
          </a:p>
          <a:p>
            <a:pPr>
              <a:spcAft>
                <a:spcPts val="800"/>
              </a:spcAft>
              <a:defRPr sz="2000" b="0"/>
            </a:pPr>
            <a:r>
              <a:t>• 298 025 eventos; 614 etiquetados «nuclear explosion»</a:t>
            </a:r>
          </a:p>
          <a:p>
            <a:pPr>
              <a:spcAft>
                <a:spcPts val="800"/>
              </a:spcAft>
              <a:defRPr sz="2000" b="0"/>
            </a:pPr>
            <a: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1. DBSCAN con distancia haversine (esfera)</a:t>
            </a:r>
          </a:p>
          <a:p>
            <a:pPr>
              <a:spcAft>
                <a:spcPts val="800"/>
              </a:spcAft>
              <a:defRPr sz="2000" b="0"/>
            </a:pPr>
            <a:r>
              <a:t>• 2. Mediana de profundidad de cada cluster</a:t>
            </a:r>
          </a:p>
          <a:p>
            <a:pPr>
              <a:spcAft>
                <a:spcPts val="800"/>
              </a:spcAft>
              <a:defRPr sz="2000" b="0"/>
            </a:pPr>
            <a:r>
              <a:t>• 3. Sospechoso si mediana en [dmin, dmax)</a:t>
            </a:r>
          </a:p>
          <a:p>
            <a:pPr>
              <a:spcAft>
                <a:spcPts val="800"/>
              </a:spcAft>
              <a:defRPr sz="2000" b="0"/>
            </a:pPr>
            <a: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Parámetros fijos: eps = 25 km, vmin = 1, profundidad mediana en [0; 2,5) km (criterio físico)</a:t>
            </a:r>
          </a:p>
          <a:p>
            <a:pPr>
              <a:spcAft>
                <a:spcPts val="800"/>
              </a:spcAft>
              <a:defRPr sz="2000" b="0"/>
            </a:pPr>
            <a:r>
              <a:t>• eps = 25 km da el mínimo de falsos positivos (91) entre 5 y 100 km; es la única elección que mira la etiqueta</a:t>
            </a:r>
          </a:p>
          <a:p>
            <a:pPr>
              <a:spcAft>
                <a:spcPts val="800"/>
              </a:spcAft>
              <a:defRPr sz="2000" b="0"/>
            </a:pPr>
            <a: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/>
            </a:pPr>
            <a:r>
              <a:t>• Con eps ≥ 50 km los grupos se funden con terremotos profundos: FP 460 (50 km) y FN 261 (75 km)</a:t>
            </a:r>
          </a:p>
          <a:p>
            <a:pPr>
              <a:spcAft>
                <a:spcPts val="800"/>
              </a:spcAft>
              <a:defRPr sz="2000" b="0"/>
            </a:pPr>
            <a:r>
              <a:t>• Estabilidad (ARI, muestra del 50 %): 0,52-0,62</a:t>
            </a:r>
          </a:p>
          <a:p>
            <a:pPr>
              <a:spcAft>
                <a:spcPts val="800"/>
              </a:spcAft>
              <a:defRPr sz="2000" b="0"/>
            </a:pPr>
            <a: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586 aciertos, 91 FP, 28 FN</a:t>
            </a:r>
          </a:p>
          <a:p>
            <a:pPr>
              <a:spcAft>
                <a:spcPts val="800"/>
              </a:spcAft>
              <a:defRPr sz="2000" b="0"/>
            </a:pPr>
            <a:r>
              <a:t>• Precisión 86,6 %  ·  recall 95,4 %  ·  F1 = 0,908</a:t>
            </a:r>
          </a:p>
          <a:p>
            <a:pPr>
              <a:spcAft>
                <a:spcPts val="800"/>
              </a:spcAft>
              <a:defRPr sz="2000" b="0"/>
            </a:pPr>
            <a: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vmin = 1: no hay ruido; la selección real la hace la profundidad. Con vmin = 3, F1 baja a 0,910</a:t>
            </a:r>
          </a:p>
          <a:p>
            <a:pPr>
              <a:spcAft>
                <a:spcPts val="800"/>
              </a:spcAft>
              <a:defRPr sz="2000" b="0"/>
            </a:pPr>
            <a:r>
              <a:t>• Mismos parámetros en los dos catálogos: F1 0,908 (grande) y 0,955 (pequeño); sin conjunto de prueba separado</a:t>
            </a:r>
          </a:p>
          <a:p>
            <a:pPr>
              <a:spcAft>
                <a:spcPts val="800"/>
              </a:spcAft>
              <a:defRPr sz="2000" b="0"/>
            </a:pPr>
            <a:r>
              <a:t>• El 85 % de las explosiones figura con profundidad 0,0 km en el USGS: una ventana [0; 0,1) daría F1 0,947, pero mediría esa convención</a:t>
            </a:r>
          </a:p>
          <a:p>
            <a:pPr>
              <a:spcAft>
                <a:spcPts val="800"/>
              </a:spcAft>
              <a:defRPr sz="2000" b="0"/>
            </a:pPr>
            <a:r>
              <a:t>• FP: terremotos muy superficiales y explosiones de minas; algunas pruebas oficiales figuran como earthquake</a:t>
            </a:r>
          </a:p>
          <a:p>
            <a:pPr>
              <a:spcAft>
                <a:spcPts val="800"/>
              </a:spcAft>
              <a:defRPr sz="2000" b="0"/>
            </a:pPr>
            <a: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Problema: Clasificación de materiales eléctricos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¿Se pueden descubrir las fases de la materia sin etiquetas?</a:t>
            </a:r>
          </a:p>
          <a:p>
            <a:pPr>
              <a:spcAft>
                <a:spcPts val="800"/>
              </a:spcAft>
              <a:defRPr sz="2000" b="0"/>
            </a:pPr>
            <a:r>
              <a:t>• Espacio de características físicas: (log₁₀(ρ₃₀₀K), α)</a:t>
            </a:r>
          </a:p>
          <a:p>
            <a:pPr>
              <a:spcAft>
                <a:spcPts val="800"/>
              </a:spcAft>
              <a:defRPr sz="2000" b="0"/>
            </a:pPr>
            <a:r>
              <a:t>• La resistividad abarca más de 30 órdenes de magnitud (10⁻⁸ a 10²² Ω·m)</a:t>
            </a:r>
          </a:p>
          <a:p>
            <a:pPr>
              <a:spcAft>
                <a:spcPts val="800"/>
              </a:spcAft>
              <a:defRPr sz="2000" b="0"/>
            </a:pPr>
            <a:r>
              <a:t>• El coeficiente térmico α delata la estructura cuántica de bandas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Física cuántica y por qué DBSCAN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Metales (banda semillena): α &gt; 0 por choques con fonones (mar de Fermi)</a:t>
            </a:r>
          </a:p>
          <a:p>
            <a:pPr>
              <a:spcAft>
                <a:spcPts val="800"/>
              </a:spcAft>
              <a:defRPr sz="2000" b="0"/>
            </a:pPr>
            <a:r>
              <a:t>• Semiconductores (gap moderado): α &lt; 0 por activación térmica de Boltzmann</a:t>
            </a:r>
          </a:p>
          <a:p>
            <a:pPr>
              <a:spcAft>
                <a:spcPts val="800"/>
              </a:spcAft>
              <a:defRPr sz="2000" b="0"/>
            </a:pPr>
            <a:r>
              <a:t>• Aislantes (gap enorme &gt; 5 eV): α ≈ 0 y resistividad extrema (&gt; 10¹¹ Ω·m)</a:t>
            </a:r>
          </a:p>
          <a:p>
            <a:pPr>
              <a:spcAft>
                <a:spcPts val="800"/>
              </a:spcAft>
              <a:defRPr sz="2000" b="0"/>
            </a:pPr>
            <a:r>
              <a:t>• ¿Por qué DBSCAN?: K-Means asume grupos esféricos e isodensos; DBSCAN respeta densidades desiguales (metales densos vs aislantes dispersos)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Metodología: Escala y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Estandarización manual Z-score: Z = (X - μ) / σ vectorialmente con NumPy</a:t>
            </a:r>
          </a:p>
          <a:p>
            <a:pPr>
              <a:spcAft>
                <a:spcPts val="800"/>
              </a:spcAft>
              <a:defRPr sz="2000" b="0"/>
            </a:pPr>
            <a:r>
              <a:t>• Imprescindible: equipara el rango de log₁₀ρ (~31) con el de α (~0,08)</a:t>
            </a:r>
          </a:p>
          <a:p>
            <a:pPr>
              <a:spcAft>
                <a:spcPts val="800"/>
              </a:spcAft>
              <a:defRPr sz="2000" b="0"/>
            </a:pPr>
            <a:r>
              <a:t>• DBSCAN con scikit-learn: eps = 0,65, min_samples = 3 (dimensión d = 2)</a:t>
            </a:r>
          </a:p>
          <a:p>
            <a:pPr>
              <a:spcAft>
                <a:spcPts val="800"/>
              </a:spcAft>
              <a:defRPr sz="2000" b="0"/>
            </a:pPr>
            <a:r>
              <a:t>• Determinación objetiva de eps mediante codo k-NN y silueta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Resultado: DBSCAN en 57 materiales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3 clusters puros descubiertos por densidad: 0 ruido</a:t>
            </a:r>
          </a:p>
          <a:p>
            <a:pPr>
              <a:spcAft>
                <a:spcPts val="800"/>
              </a:spcAft>
              <a:defRPr sz="2000" b="0"/>
            </a:pPr>
            <a:r>
              <a:t>• Cluster 0 (ámbar): 35 metales conductores (Cu, Ag, Au, Al...)</a:t>
            </a:r>
          </a:p>
          <a:p>
            <a:pPr>
              <a:spcAft>
                <a:spcPts val="800"/>
              </a:spcAft>
              <a:defRPr sz="2000" b="0"/>
            </a:pPr>
            <a:r>
              <a:t>• Cluster 1 (azul): 10 aislantes dieléctricos (vidrio, teflón, cuarzo...)</a:t>
            </a:r>
          </a:p>
          <a:p>
            <a:pPr>
              <a:spcAft>
                <a:spcPts val="800"/>
              </a:spcAft>
              <a:defRPr sz="2000" b="0"/>
            </a:pPr>
            <a:r>
              <a:t>• Cluster 2 (verde): 10 semiconductores (Si, Ge, GaAs, InP...)</a:t>
            </a:r>
          </a:p>
          <a:p>
            <a:pPr>
              <a:spcAft>
                <a:spcPts val="800"/>
              </a:spcAft>
              <a:defRPr sz="2000" b="0"/>
            </a:pPr>
            <a:r>
              <a:t>• Silhouette Score: 0,7858 (separación inter-cluster sobresaliente)</a:t>
            </a:r>
          </a:p>
        </p:txBody>
      </p:sp>
      <p:pic>
        <p:nvPicPr>
          <p:cNvPr id="4" name="Picture 3" descr="clusters_material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2793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Validación y defensa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Matriz de contingencia: 100 % de pureza en conductores y aislantes</a:t>
            </a:r>
          </a:p>
          <a:p>
            <a:pPr>
              <a:spcAft>
                <a:spcPts val="800"/>
              </a:spcAft>
              <a:defRPr sz="2000" b="0"/>
            </a:pPr>
            <a:r>
              <a:t>• 2 semimetales clasificados en el cluster 0 por su resistividad cuasi-metálica</a:t>
            </a:r>
          </a:p>
          <a:p>
            <a:pPr>
              <a:spcAft>
                <a:spcPts val="800"/>
              </a:spcAft>
              <a:defRPr sz="2000" b="0"/>
            </a:pPr>
            <a:r>
              <a:t>• eps &lt; 0,4 fragmenta los aislantes en ruido; eps &gt; 1,0 funde semiconductores con metales</a:t>
            </a:r>
          </a:p>
          <a:p>
            <a:pPr>
              <a:spcAft>
                <a:spcPts val="800"/>
              </a:spcAft>
              <a:defRPr sz="2000" b="0"/>
            </a:pPr>
            <a:r>
              <a:t>• Usar conductividad lineal σ colapsaría el 99 % de los puntos en el origen: log₁₀ρ es obligatoria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