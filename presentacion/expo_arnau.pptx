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 dia. Soc l'Arnau i us explicaré el meu problema: com es pot saber, només amb dades sísmiques, si un esdeveniment és un terratrèmol o una explosió nuclear.</a:t>
            </a:r>
          </a:p>
          <a:p>
            <a:r>
              <a:t>Ho farem amb un algorisme no supervisat, DBSCAN, sobre el catàleg sísmic de l'USGS.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 de la Segona Guerra Mundial, la dissuasió nuclear ha evitat guerres a gran escala entre potències nuclears, i els estats han intentat limitar qui té accés a l'arma amb tractats: el de No Proliferació del 1968 i el que prohibeix tots els assajos, el CTBT del 1996, que encara no ha entrat en vigor.</a:t>
            </a:r>
          </a:p>
          <a:p>
            <a:r>
              <a:t>Un tractat només serveix si es pot verificar. I la manera de fer-ho a distància és la sismologia: Corea del Nord va anunciar els seus assajos, però les xarxes sísmiques globals els van registrar de manera independent i en van permetre la localització i la mida.</a:t>
            </a:r>
          </a:p>
          <a:p>
            <a:r>
              <a:t>La nostra pregunta és una versió simple d'aquesta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pregunta és: pot un algorisme que no veu l'etiqueta assenyalar les explosions nuclears d'un catàleg de gairebé tres-cents mil esdeveniments?</a:t>
            </a:r>
          </a:p>
          <a:p>
            <a:r>
              <a:t>Només li donem dues coses de cada esdeveniment: on és i a quina profunditat. L'etiqueta que diu «explosió nuclear» no l'utilitzem per entrenar res; només al final, per comprovar si ho ha fet bé.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Utilitzem el catàleg de l'USGS: tots els esdeveniments de magnitud 4,5 o més entre 1951 i 2025, de qualsevol tipus. Són 298.127 esdeveniments. Només 614 estan etiquetats com a explosió nuclear.</a:t>
            </a:r>
          </a:p>
          <a:p>
            <a:r>
              <a:t>A més de terratrèmols i explosions nuclears hi ha 100 esdeveniments d'altres tipus: erupcions volcàniques, altres explosions, esfondraments de mina, etc. No els traiem, perquè en un cas real també hi serien.</a:t>
            </a:r>
          </a:p>
          <a:p>
            <a:r>
              <a:t>Al mapa, en gris els terratrèmols i en vermell les explosions nuclears: es concentren en uns pocs punts.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 ha dues pistes. La primera: un terratrèmol és el lliscament d'una falla a desenes de quilòmetres de profunditat, i la mediana de profunditat al catàleg és de 33 km. Una explosió nuclear és un pols de pressió gairebé a la superfície.</a:t>
            </a:r>
          </a:p>
          <a:p>
            <a:r>
              <a:t>La segona: les proves es fan sempre als mateixos polígons d'assaig, com Nevada o Semipalatinsk, de manera que formen grups molt compactes al mapa.</a:t>
            </a:r>
          </a:p>
          <a:p>
            <a:r>
              <a:t>Combinant les dues, un grup d'esdeveniments molt junts i molt superficials és sospitós.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es veu la profunditat de cada classe, com a fracció del total. Els terratrèmols, en gris, es reparteixen per tot el rang i tenen pics a 10 i a 33 km, que són profunditats que el catàleg fixa quan no pot calcular-les. Les explosions, en vermell, estan gairebé totes a 0 km.</a:t>
            </a:r>
          </a:p>
          <a:p>
            <a:r>
              <a:t>En taronja, la finestra de profunditat que fem servir: de 0 a 2,5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DBSCAN agrupa per densitat i només té dos paràmetres: un radi, epsilon, i un nombre mínim de veïns dins d'aquest radi.</a:t>
            </a:r>
          </a:p>
          <a:p>
            <a:r>
              <a:t>Amb això, cada punt es classifica en un de tres tipus. Punt central, en blau: té com a mínim el nombre mínim de veïns dins del radi. Punt frontera, en vermell: no arriba al mínim, però és dins del radi d'un punt central. I soroll, en negre: no és cap de les dues coses.</a:t>
            </a:r>
          </a:p>
          <a:p>
            <a:r>
              <a:t>Aquesta captura és d'una demo en línia de Philippe Fournier-Viger, amb epsilon igual a 1 i mínim de 3 veïns. Una nota: a la demo el veïnat no compta el punt mateix, i a scikit-learn sí. Per això el nostre v_min igual a 2 equival al MinPts igual a 1 de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es veu què passa quan canviem el radi sobre els mateixos punts.</a:t>
            </a:r>
          </a:p>
          <a:p>
            <a:r>
              <a:t>Amb epsilon igual a 0,5, el radi és tan petit que cap punt arriba al mínim de veïns: tot és soroll. Amb epsilon igual a 1 apareixen dos grups centrals. Amb epsilon igual a 2, els cercles creixen, es toquen i els grups s'ajunten, i queda menys soroll.</a:t>
            </a:r>
          </a:p>
          <a:p>
            <a:r>
              <a:t>Un epsilon massa petit deixa tot com a soroll, i un de massa gran fon grups diferents. Per això en el nostre problema hem validat el radi provant-ne molts valors.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clúster es forma així: els punts centrals que estan a menys d'un radi l'un de l'altre queden al mateix grup, i el grup creix de punt en punt, com una cadena. Els punts frontera s'hi afegeixen, i el soroll queda fora.</a:t>
            </a:r>
          </a:p>
          <a:p>
            <a:r>
              <a:t>A l'esquerra, la classificació; a la dreta, el resultat final, amb cada clúster d'un color i el soroll amagat.</a:t>
            </a:r>
          </a:p>
          <a:p>
            <a:r>
              <a:t>En el nostre problema, cada sisme és un punt amb latitud i longitud, la distància és la de haversine sobre l'esfera, el radi és de 25 km i el mínim és 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mètode té quatre passos.</a:t>
            </a:r>
          </a:p>
          <a:p>
            <a:r>
              <a:t>Primer, DBSCAN agrupa els esdeveniments que estan a prop, mesurant la distància sobre l'esfera amb la fórmula de haversine. Un grup és una cadena d'esdeveniments a menys de 25 km l'un de l'altre; els que estan sols són soroll.</a:t>
            </a:r>
          </a:p>
          <a:p>
            <a:r>
              <a:t>Segon, calculem la mediana de profunditat de cada grup. Tercer, un grup és sospitós si aquesta mediana és menor de 2,5 km. Quart, comparem amb l'etiqueta per comptar encerts, falsos positius i falsos negatius.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saber si el detector funciona, comptem quatre coses. Encert, o vertader positiu: l'hem marcat i és una explosió. Fals positiu: l'hem marcat però no ho és. Fals negatiu: és una explosió i no l'hem marcat. I vertader negatiu: no l'hem marcat i no ho és.</a:t>
            </a:r>
          </a:p>
          <a:p>
            <a:r>
              <a:t>La precisió respon a: de tot el que marquem, quant és explosió? El recall: de totes les explosions, quantes trobem? I la F1 és la mitjana harmònica de les dues, de manera que només és alta si totes dues ho són.</a:t>
            </a:r>
          </a:p>
          <a:p>
            <a:r>
              <a:t>No fem servir l'exactitud, perquè les classes estan molt desequilibrades: un detector que no marqués mai res encertaria el 99,8 %.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hi ha un zoom al polígon de Nevada. A l'esquerra, els epicentres tal com els veu l'algorisme, sense etiquetes. A la dreta, els clústers: en blau els no sospitosos i en taronja els sospitosos, perquè la seva mediana de profunditat és menor de 2,5 km.</a:t>
            </a:r>
          </a:p>
          <a:p>
            <a:r>
              <a:t>Els cercles negres petits són les explosions reals. Veieu que cauen dins del clúster taronja: l'algorisme les ha trobat sense saber-ho.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Els paràmetres estan fixats. La finestra de 2,5 km és un criteri físic, i no una finestra estreta al voltant de 0 km, perquè volem que l'algorisme pugui detectar proves futures: el catàleg podria registrar-les a una profunditat que no sigui exactament 0 km, i no volem dependre que l'etiquetatge sigui perfecte.</a:t>
            </a:r>
          </a:p>
          <a:p>
            <a:r>
              <a:t>El radi de 25 km és del ordre de la mida d'un polígon d'assaig i, com veurem, és el que dona menys falsos positius.</a:t>
            </a:r>
          </a:p>
          <a:p>
            <a:r>
              <a:t>I amb v_min igual a 2, els sismes aïllats són soroll: això treu molts terratrèmols superficials, a canvi de perdre explosions que van ser assajos aïllats.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justificar el radi hem provat tots els valors de 5 a 100 km, de 5 en 5.</a:t>
            </a:r>
          </a:p>
          <a:p>
            <a:r>
              <a:t>La silueta, que és la mètrica típica sense etiquetes, és negativa en tots els casos i no ens diu res, perquè DBSCAN uneix cadenes allargades i la silueta penalitza els grups no compactes.</a:t>
            </a:r>
          </a:p>
          <a:p>
            <a:r>
              <a:t>En canvi, els errors sí que expliquen alguna cosa. Els falsos positius tenen el mínim, 57, a 25 km. I a partir de 55 km els falsos negatius salten de 60 a gairebé 290: els grups d'explosions es fonen amb grups de terratrèmols més profunds i la seva mediana deixa de ser superficial.</a:t>
            </a:r>
          </a:p>
          <a:p>
            <a:r>
              <a:t>Cal dir que aquí sí que mirem l'etiqueta per triar el radi, i per això el mètode és híbrid.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resultat final, amb els paràmetres fixos: de les 614 explosions, en detectem 551, amb 57 falsos positius i 63 falsos negatius. Això és una precisió del 90,6 %, un recall del 89,7 % i una F1 de 0,902, en un catàleg de gairebé tres-cents mil esdeveniments.</a:t>
            </a:r>
          </a:p>
          <a:p>
            <a:r>
              <a:t>Al mapa, en verd els encerts, en taronja els falsos positius i en negre els falsos negatius.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DBSCAN no sap res d'història, però els clústers que troba són els polígons d'assaig de la Guerra Freda. En verd, les explosions que es detecten, i amb una creu negra, les que no.</a:t>
            </a:r>
          </a:p>
          <a:p>
            <a:r>
              <a:t>Nevada concentra 230 explosions en un sol clúster. Semipalatinsk surt partit en dos, Balapan i Degelen, amb 178 explosions en total. Mururoa té 74 explosions lluny de qualsevol zona sísmica: és el cas més fàcil.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 els falsos negatius hi ha un grup que cal explicar: les explosions nuclears pacífiques o civils de la Unió Soviètica. Era un programa civil, separat dels assajos militars, que va durar aproximadament de 1965 a 1988, amb un centenar llarg d'explosions; la xifra habitual és d'unes 120.</a:t>
            </a:r>
          </a:p>
          <a:p>
            <a:r>
              <a:t>S'utilitzaven per crear cavitats subterrànies on emmagatzemar gas, com les 15 d'Astracan que sí que detectem; per estimular jaciments de petroli i de gas; per fer sondeigs sísmics profunds; per excavar canals i embassaments; i fins i tot per apagar focs de pous de gas.</a:t>
            </a:r>
          </a:p>
          <a:p>
            <a:r>
              <a:t>Per què ens afecten? Perquè no es feien als polígons militars sinó en llocs aïllats de Sibèria, dels Urals i del Kazakhstan. Amb v_min igual a 2, una explosió que és sola en un radi de 25 km és soroll. Cal ser prudents: dedueixo que moltes de les 40 explosions aïllades són d'aquest programa pel lloc on són, però no ho he comprovat explosió per explosió.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Els 63 falsos negatius tenen explicació.</a:t>
            </a:r>
          </a:p>
          <a:p>
            <a:r>
              <a:t>Quaranta són explosions aïllades, probablement civils soviètiques a Rússia i el Kazakhstan: com que estan soles en 25 km, amb v_min igual a 2 són soroll.</a:t>
            </a:r>
          </a:p>
          <a:p>
            <a:r>
              <a:t>Divuit són de Lop Nur, a la Xina: caiguts al costat de terratrèmols del Tian Shan, la mediana del clúster puja a 15,7 km i es perd tot el grup.</a:t>
            </a:r>
          </a:p>
          <a:p>
            <a:r>
              <a:t>La Bomba Tsar va ser una explosió aèria a 4 km d'altura, i el catàleg la registra a menys 4 km, per sobre de la superfície: queda fora de la finestra. I l'assaig Shoal del 1963, a Fallon, es va fer enmig d'una zona amb terratrèmols reals.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 ser honestos amb les limitacions.</a:t>
            </a:r>
          </a:p>
          <a:p>
            <a:r>
              <a:t>Primer, el mètode és híbrid: l'agrupament és no supervisat i la finestra és física, però el radi l'he triat mirant l'etiqueta. Segon, el catàleg posa 0,0 km al 85 % de les explosions; una finestra molt estreta mesuraria aquesta convenció i no la física. Tercer, mantenim els 100 esdeveniments d'altres tipus, i 14 dels 57 falsos positius ho són; sense ells, la F1 seria 0,912. I quart, no hi ha un conjunt de prova separat.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acabar. Un agrupament sense etiquetes, combinat amb una pista física, la profunditat de cada grup, recupera el 90 % de les explosions nuclears d'un catàleg de gairebé tres-cents mil esdeveniments, amb 57 falsos positius.</a:t>
            </a:r>
          </a:p>
          <a:p>
            <a:r>
              <a:t>La senyal útil és doble i física: repetició als mateixos polígons i profunditat gairebé nul·la. I com a millores: triar ε en un subconjunt i avaluar-lo en un altre, afegir la magnitud i la forma d'ona, i fer servir la llista oficial del DOE en lloc de l'etiqueta de l'USGS.</a:t>
            </a:r>
          </a:p>
          <a:p>
            <a:r>
              <a:t>Moltes gràcies. Teniu alguna pregunta?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710A"/>
                </a:solidFill>
                <a:latin typeface="Calibri"/>
              </a:rPr>
              <a:t>CPIA · APRENENTATGE NO SUPERVISAT I DETECCIÓ D'ANOMALIES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760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Terratrèmol o explosió nuclear?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9D1DB"/>
                </a:solidFill>
                <a:latin typeface="Calibri"/>
              </a:rPr>
              <a:t>Detectar assajos nuclears al catàleg de l'USGS amb DBSCAN, sense llegir l'etiqueta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Arnau Montull Bainad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554480"/>
            <a:ext cx="47548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pa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930115"/>
            <a:ext cx="4535424" cy="2449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Per què importa saber-ho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731520" cy="73152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B2430"/>
                </a:solidFill>
                <a:latin typeface="Calibri"/>
              </a:rPr>
              <a:t>Dissuasió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B6370"/>
                </a:solidFill>
                <a:latin typeface="Calibri"/>
              </a:rPr>
              <a:t>Des de la Segona Guerra Mundial, cap guerra a gran escala entre potències nuclears.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1874519"/>
            <a:ext cx="731520" cy="731520"/>
          </a:xfrm>
          <a:prstGeom prst="ellipse">
            <a:avLst/>
          </a:prstGeom>
          <a:solidFill>
            <a:srgbClr val="3B7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B2430"/>
                </a:solidFill>
                <a:latin typeface="Calibri"/>
              </a:rPr>
              <a:t>Tractats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B6370"/>
                </a:solidFill>
                <a:latin typeface="Calibri"/>
              </a:rPr>
              <a:t>No Proliferació (1968) i CTBT (1996, encara no en vigor): cal poder verificar-los.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1874519"/>
            <a:ext cx="731520" cy="731520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8346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B2430"/>
                </a:solidFill>
                <a:latin typeface="Calibri"/>
              </a:rPr>
              <a:t>Corea del Nord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4290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B6370"/>
                </a:solidFill>
                <a:latin typeface="Calibri"/>
              </a:rPr>
              <a:t>Assajos el 2006 i el 2017, registrats de manera independent per les xarxes sísmiques.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3327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Verificar a distància, només amb dades sísmiques, és el que dona sentit als tractats.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La pregunta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 i="0">
                <a:solidFill>
                  <a:srgbClr val="111827"/>
                </a:solidFill>
                <a:latin typeface="Calibri"/>
              </a:rPr>
              <a:t>Pot un algorisme no supervisat assenyalar les explosions nuclears </a:t>
            </a:r>
            <a:r>
              <a:rPr sz="3200" b="1" i="0">
                <a:solidFill>
                  <a:srgbClr val="E8710A"/>
                </a:solidFill>
                <a:latin typeface="Calibri"/>
              </a:rPr>
              <a:t>sense llegir l'etiqueta</a:t>
            </a:r>
            <a:r>
              <a:rPr sz="3200" b="0" i="0">
                <a:solidFill>
                  <a:srgbClr val="111827"/>
                </a:solidFill>
                <a:latin typeface="Calibri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B7EA1"/>
                </a:solidFill>
                <a:latin typeface="Calibri"/>
              </a:rP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11827"/>
                </a:solidFill>
                <a:latin typeface="Calibri"/>
              </a:rPr>
              <a:t>Posició (latitud i longitud) i profunditat de cada esdeveniment.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2918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566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710A"/>
                </a:solidFill>
                <a:latin typeface="Calibri"/>
              </a:rPr>
              <a:t>SORTIDA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06908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11827"/>
                </a:solidFill>
                <a:latin typeface="Calibri"/>
              </a:rPr>
              <a:t>Cada esdeveniment queda marcat com a sospitós o no sospitós.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2918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3566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L'ETIQUETA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06908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11827"/>
                </a:solidFill>
                <a:latin typeface="Calibri"/>
              </a:rPr>
              <a:t>Només serveix per avaluar el resultat. Mai per entrenar.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Les dades: tot el catàleg de l'USGS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1B2430"/>
                </a:solidFill>
                <a:latin typeface="Calibri"/>
              </a:rPr>
              <a:t>298 127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esdeveniments de magnitud 4,5 o més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E8710A"/>
                </a:solidFill>
                <a:latin typeface="Calibri"/>
              </a:rPr>
              <a:t>614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etiquetats com a explosió nuclear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3B7EA1"/>
                </a:solidFill>
                <a:latin typeface="Calibri"/>
              </a:rPr>
              <a:t>1951–2025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catàleg USGS, de tots els tipus d'esdeveniment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63040"/>
            <a:ext cx="694944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pa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77664"/>
            <a:ext cx="6729983" cy="36341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Dues pistes físiques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7665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ue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84761"/>
            <a:ext cx="6547104" cy="23569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463040"/>
            <a:ext cx="40233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18120" y="1691640"/>
            <a:ext cx="548640" cy="548640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45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0"/>
                </a:solidFill>
                <a:latin typeface="Calibri"/>
              </a:rPr>
              <a:t>Es repeteixen als polígons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Nevada, Semipalatinsk, Mururoa… formen grups compactes.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154680"/>
            <a:ext cx="40233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18120" y="3383280"/>
            <a:ext cx="548640" cy="548640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337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0"/>
                </a:solidFill>
                <a:latin typeface="Calibri"/>
              </a:rPr>
              <a:t>Passen gairebé a la superfície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9319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Terratrèmols: mediana de 33 km; només un 0,25 % és a menys de 2,5 km.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11827"/>
                </a:solidFill>
                <a:latin typeface="Calibri"/>
              </a:rPr>
              <a:t>Un grup d'esdeveniments </a:t>
            </a:r>
            <a:r>
              <a:rPr sz="3000" b="1" i="0">
                <a:solidFill>
                  <a:srgbClr val="3B7EA1"/>
                </a:solidFill>
                <a:latin typeface="Calibri"/>
              </a:rPr>
              <a:t>molt junts</a:t>
            </a:r>
            <a:r>
              <a:rPr sz="3000" b="0" i="0">
                <a:solidFill>
                  <a:srgbClr val="111827"/>
                </a:solidFill>
                <a:latin typeface="Calibri"/>
              </a:rPr>
              <a:t> i </a:t>
            </a:r>
            <a:r>
              <a:rPr sz="3000" b="1" i="0">
                <a:solidFill>
                  <a:srgbClr val="E8710A"/>
                </a:solidFill>
                <a:latin typeface="Calibri"/>
              </a:rPr>
              <a:t>molt superficials</a:t>
            </a:r>
            <a:r>
              <a:rPr sz="3000" b="0" i="0">
                <a:solidFill>
                  <a:srgbClr val="111827"/>
                </a:solidFill>
                <a:latin typeface="Calibri"/>
              </a:rPr>
              <a:t> és sospitós.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La profunditat separa les dues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713232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fundit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" y="1980133"/>
            <a:ext cx="6912864" cy="36292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6459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710A"/>
                </a:solidFill>
                <a:latin typeface="Calibri"/>
              </a:rPr>
              <a:t>Finestra [0; 2,5)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5661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Calibri"/>
              </a:rPr>
              <a:t>Les explosions es concentren a prop de 0 km.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Calibri"/>
              </a:rPr>
              <a:t>Els terratrèmols es reparteixen per tot el rang.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Calibri"/>
              </a:rPr>
              <a:t>La finestra s'aplica a la mediana de cada clúster, no a cada esdeveniment.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Com funciona DBSCAN: tres tipus de punts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02920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bscan_demo_ep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70" y="1481328"/>
            <a:ext cx="4243938" cy="4398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Captura: demo de Ph. Fournier-Viger, ε = 1, MinPts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41732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430"/>
                </a:solidFill>
                <a:latin typeface="Calibri"/>
              </a:rPr>
              <a:t>Dos paràmetres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2024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710A"/>
                </a:solidFill>
                <a:latin typeface="Calibri"/>
              </a:rPr>
              <a:t>ε</a:t>
            </a:r>
            <a:r>
              <a:rPr sz="1800" b="0" i="0">
                <a:solidFill>
                  <a:srgbClr val="111827"/>
                </a:solidFill>
                <a:latin typeface="Calibri"/>
              </a:rPr>
              <a:t> (radi del veïnat) i </a:t>
            </a:r>
            <a:r>
              <a:rPr sz="1800" b="1" i="0">
                <a:solidFill>
                  <a:srgbClr val="E8710A"/>
                </a:solidFill>
                <a:latin typeface="Calibri"/>
              </a:rPr>
              <a:t>MinPts</a:t>
            </a:r>
            <a:r>
              <a:rPr sz="1800" b="0" i="0">
                <a:solidFill>
                  <a:srgbClr val="111827"/>
                </a:solidFill>
                <a:latin typeface="Calibri"/>
              </a:rPr>
              <a:t> (veïns mínims dins del radi)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743200"/>
            <a:ext cx="55778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2980944"/>
            <a:ext cx="420624" cy="420624"/>
          </a:xfrm>
          <a:prstGeom prst="ellipse">
            <a:avLst/>
          </a:prstGeom>
          <a:solidFill>
            <a:srgbClr val="1F3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Punt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2004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Té com a mínim MinPts veïns dins del radi 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767328"/>
            <a:ext cx="55778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63640" y="4005072"/>
            <a:ext cx="420624" cy="420624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Punt frontera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22452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No arriba al mínim, però és dins del radi d'un punt central.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791456"/>
            <a:ext cx="55778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5029200"/>
            <a:ext cx="420624" cy="420624"/>
          </a:xfrm>
          <a:prstGeom prst="ellips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8828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Soroll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248656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No és central ni és a prop de cap punt central.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89788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370"/>
                </a:solidFill>
                <a:latin typeface="Calibri"/>
              </a:rPr>
              <a:t>A la demo, el veïnat no compta el propi punt; a scikit-learn sí. El nostre v_min = 2 equival a MinPts = 1 de la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L'efecte del radi 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2044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bscan_demo_ep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64" y="1481328"/>
            <a:ext cx="3273391" cy="3392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749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710A"/>
                </a:solidFill>
                <a:latin typeface="Calibri"/>
              </a:rPr>
              <a:t>ε = 0,5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11827"/>
                </a:solidFill>
                <a:latin typeface="Calibri"/>
              </a:rPr>
              <a:t>Massa petit: tot és soroll.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bscan_demo_ep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924" y="1481328"/>
            <a:ext cx="3273391" cy="3392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34840" y="50749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710A"/>
                </a:solidFill>
                <a:latin typeface="Calibri"/>
              </a:rPr>
              <a:t>ε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532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11827"/>
                </a:solidFill>
                <a:latin typeface="Calibri"/>
              </a:rPr>
              <a:t>Apareixen grups centrals.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2044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bscan_demo_ep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1684" y="1481328"/>
            <a:ext cx="3273391" cy="33924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50749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710A"/>
                </a:solidFill>
                <a:latin typeface="Calibri"/>
              </a:rPr>
              <a:t>ε =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532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11827"/>
                </a:solidFill>
                <a:latin typeface="Calibri"/>
              </a:rPr>
              <a:t>Els grups creixen i s'ajunten.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Captures: demo de Ph. Fournier-Viger (philippe-fournier-viger.com/tools/dbscan_clusters_demo.php), MinPts =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De punts a clústers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2062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bscan_demo_ep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58" y="1481328"/>
            <a:ext cx="3582202" cy="371246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892040" y="3063240"/>
            <a:ext cx="548640" cy="548640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42062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bscan_demo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858" y="1481328"/>
            <a:ext cx="3582202" cy="3712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94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Classificació dels punts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5394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Clústers (el soroll s'amaga)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554480"/>
            <a:ext cx="16459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E8710A"/>
                </a:solidFill>
                <a:latin typeface="Calibri"/>
              </a:rPr>
              <a:t>Al nostre cas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Punt = sisme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Distància: haversine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ε = 25 km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v_min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Captures: demo de Ph. Fournier-Viger (philippe-fournier-viger.com/tools/dbscan_clusters_demo.php), ε = 1, MinPts =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Com funciona: quatre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828800"/>
            <a:ext cx="685800" cy="68580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430"/>
                </a:solidFill>
                <a:latin typeface="Calibri"/>
              </a:rPr>
              <a:t>Agrupar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3756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DBSCAN amb distància haversine sobre l'esfera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1828800"/>
            <a:ext cx="685800" cy="68580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430"/>
                </a:solidFill>
                <a:latin typeface="Calibri"/>
              </a:rPr>
              <a:t>Profunditat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3756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Mediana de profunditat de cada clúster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828800"/>
            <a:ext cx="685800" cy="685800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430"/>
                </a:solidFill>
                <a:latin typeface="Calibri"/>
              </a:rPr>
              <a:t>Sospitós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3756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Si la mediana és menor de 2,5 km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5544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1828800"/>
            <a:ext cx="685800" cy="68580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430"/>
                </a:solidFill>
                <a:latin typeface="Calibri"/>
              </a:rPr>
              <a:t>Comparar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3756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Amb l'etiqueta: encerts, FP i FN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8710A"/>
                </a:solidFill>
                <a:latin typeface="Calibri"/>
              </a:rPr>
              <a:t>ε = 25 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1DB"/>
                </a:solidFill>
                <a:latin typeface="Calibri"/>
              </a:rPr>
              <a:t>radi del veïnat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920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8710A"/>
                </a:solidFill>
                <a:latin typeface="Calibri"/>
              </a:rPr>
              <a:t>v_min =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86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1DB"/>
                </a:solidFill>
                <a:latin typeface="Calibri"/>
              </a:rPr>
              <a:t>sismes mínims per grup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920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8710A"/>
                </a:solidFill>
                <a:latin typeface="Calibri"/>
              </a:rPr>
              <a:t>[0; 2,5)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486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1DB"/>
                </a:solidFill>
                <a:latin typeface="Calibri"/>
              </a:rPr>
              <a:t>finestra de profunditat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Com mesurem: precisió, recall i F₁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060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E7D32"/>
                </a:solidFill>
                <a:latin typeface="Calibri"/>
              </a:rPr>
              <a:t>551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Encert (TP)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370"/>
                </a:solidFill>
                <a:latin typeface="Calibri"/>
              </a:rPr>
              <a:t>Marcat i és explosió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63040"/>
            <a:ext cx="26060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710A"/>
                </a:solidFill>
                <a:latin typeface="Calibri"/>
              </a:rPr>
              <a:t>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Fals positiu (FP)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8803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370"/>
                </a:solidFill>
                <a:latin typeface="Calibri"/>
              </a:rPr>
              <a:t>Marcat, però no és explosió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26060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430"/>
                </a:solidFill>
                <a:latin typeface="Calibri"/>
              </a:rPr>
              <a:t>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Fals negatiu (FN)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370"/>
                </a:solidFill>
                <a:latin typeface="Calibri"/>
              </a:rPr>
              <a:t>Explosió que no marquem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657600"/>
            <a:ext cx="26060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84048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5B6370"/>
                </a:solidFill>
                <a:latin typeface="Calibri"/>
              </a:rPr>
              <a:t>297 456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709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Vertader negatiu (TN)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074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370"/>
                </a:solidFill>
                <a:latin typeface="Calibri"/>
              </a:rPr>
              <a:t>No marcat i no és explosió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463040"/>
            <a:ext cx="534924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002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Precisió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0299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TP / (TP + FP)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7744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370"/>
                </a:solidFill>
                <a:latin typeface="Calibri"/>
              </a:rPr>
              <a:t>De tot el que marquem, quant és explosió?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463040"/>
            <a:ext cx="1554480" cy="1353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1B2430"/>
                </a:solidFill>
                <a:latin typeface="Calibri"/>
              </a:rPr>
              <a:t>90,6 %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944368"/>
            <a:ext cx="534924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08152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Recall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112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TP / (TP + FN)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58768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370"/>
                </a:solidFill>
                <a:latin typeface="Calibri"/>
              </a:rPr>
              <a:t>De totes les explosions, quantes trobem?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944368"/>
            <a:ext cx="1554480" cy="1353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1B2430"/>
                </a:solidFill>
                <a:latin typeface="Calibri"/>
              </a:rPr>
              <a:t>89,7 %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425696"/>
            <a:ext cx="534924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56285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8710A"/>
                </a:solidFill>
                <a:latin typeface="Calibri"/>
              </a:rPr>
              <a:t>F₁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99262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2·TP / (2·TP + FP + FN)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3400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370"/>
                </a:solidFill>
                <a:latin typeface="Calibri"/>
              </a:rPr>
              <a:t>Mitjana harmònica: només és alta si les dues ho són.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425696"/>
            <a:ext cx="1554480" cy="1353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E8710A"/>
                </a:solidFill>
                <a:latin typeface="Calibri"/>
              </a:rPr>
              <a:t>0,902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No usem l'exactitud: un detector que no marqués mai res encertaria el 99,8 %.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Exemple: el polígon de Nevada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teccion_nev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618" y="1481328"/>
            <a:ext cx="9424283" cy="39410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370"/>
                </a:solidFill>
                <a:latin typeface="Calibri"/>
              </a:rPr>
              <a:t>En taronja, els clústers sospitosos; amb un cercle negre, les explosions reals. Les han trobat sense llegir l'etiqueta.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Per què aquests paràmetres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204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B2430"/>
                </a:solidFill>
                <a:latin typeface="Calibri"/>
              </a:rPr>
              <a:t>Finestra [0; 2,5)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827"/>
                </a:solidFill>
                <a:latin typeface="Calibri"/>
              </a:rPr>
              <a:t>Un màxim de 2,5 km, i no només 0 km: volem detectar proves futures, encara que el catàleg no les posi exactament a 0 km.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204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E8710A"/>
                </a:solidFill>
                <a:latin typeface="Calibri"/>
              </a:rPr>
              <a:t>ε = 25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827"/>
                </a:solidFill>
                <a:latin typeface="Calibri"/>
              </a:rPr>
              <a:t>Del ordre de la mida d'un polígon d'assaig. És el valor amb menys falsos positius entre 5 i 100 km.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204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373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3B7EA1"/>
                </a:solidFill>
                <a:latin typeface="Calibri"/>
              </a:rPr>
              <a:t>v_min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6888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827"/>
                </a:solidFill>
                <a:latin typeface="Calibri"/>
              </a:rPr>
              <a:t>Els sismes sols en 25 km són soroll (2,4 %). Amb v_min = 1: 28 FN però 115 FP; amb v_min = 2: 63 FN i 57 FP.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Els tres paràmetres són fixos per a tot el catàleg: no es tornen a ajustar per a cada zona.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Validació de ε: de 5 en 5 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94944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rors_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28139"/>
            <a:ext cx="6729983" cy="3533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554480"/>
            <a:ext cx="3749039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La silueta no serveix: </a:t>
            </a:r>
            <a:r>
              <a:rPr sz="1800" b="0" i="0">
                <a:solidFill>
                  <a:srgbClr val="111827"/>
                </a:solidFill>
                <a:latin typeface="Calibri"/>
              </a:rPr>
              <a:t>és negativa per a tots els ε.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E8710A"/>
                </a:solidFill>
                <a:latin typeface="Calibri"/>
              </a:rPr>
              <a:t>Mínim de FP a 25 km: </a:t>
            </a:r>
            <a:r>
              <a:rPr sz="1800" b="0" i="0">
                <a:solidFill>
                  <a:srgbClr val="111827"/>
                </a:solidFill>
                <a:latin typeface="Calibri"/>
              </a:rPr>
              <a:t>57 falsos positius.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Des de 55 km, els FN salten: </a:t>
            </a:r>
            <a:r>
              <a:rPr sz="1800" b="0" i="0">
                <a:solidFill>
                  <a:srgbClr val="111827"/>
                </a:solidFill>
                <a:latin typeface="Calibri"/>
              </a:rPr>
              <a:t>de ~60 a ~290. Els grups d'explosions es fonen amb terratrèmols profunds.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Resultat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E8710A"/>
                </a:solidFill>
                <a:latin typeface="Calibri"/>
              </a:rPr>
              <a:t>0,902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F₁: mitjana harmònica de precisió i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90,6 %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precisió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20040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89,7 %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0690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551</a:t>
            </a:r>
            <a:r>
              <a:rPr sz="2000" b="0" i="0">
                <a:solidFill>
                  <a:srgbClr val="111827"/>
                </a:solidFill>
                <a:latin typeface="Calibri"/>
              </a:rPr>
              <a:t> encerts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8710A"/>
                </a:solidFill>
                <a:latin typeface="Calibri"/>
              </a:rPr>
              <a:t>57</a:t>
            </a:r>
            <a:r>
              <a:rPr sz="2000" b="0" i="0">
                <a:solidFill>
                  <a:srgbClr val="111827"/>
                </a:solidFill>
                <a:latin typeface="Calibri"/>
              </a:rPr>
              <a:t> falsos positius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11827"/>
                </a:solidFill>
                <a:latin typeface="Calibri"/>
              </a:rPr>
              <a:t>63</a:t>
            </a:r>
            <a:r>
              <a:rPr sz="2000" b="0" i="0">
                <a:solidFill>
                  <a:srgbClr val="111827"/>
                </a:solidFill>
                <a:latin typeface="Calibri"/>
              </a:rPr>
              <a:t> falsos negatius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731520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sul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020824"/>
            <a:ext cx="7095744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Què hi ha darrere de cada clúster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513" y="1481328"/>
            <a:ext cx="6910493" cy="33924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212080"/>
            <a:ext cx="35204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53218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710A"/>
                </a:solidFill>
                <a:latin typeface="Calibri"/>
              </a:rPr>
              <a:t>Nevada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57150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230 explosions en un sol clúster.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5212080"/>
            <a:ext cx="35204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53218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710A"/>
                </a:solidFill>
                <a:latin typeface="Calibri"/>
              </a:rPr>
              <a:t>Semipalatinsk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57150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178 explosions, en dos clústers: Balapan i Degelen.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212080"/>
            <a:ext cx="35204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53218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710A"/>
                </a:solidFill>
                <a:latin typeface="Calibri"/>
              </a:rPr>
              <a:t>Mururoa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7150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74 explosions lluny de qualsevol zona sísmica.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Les explosions nuclears civils soviètiques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E8710A"/>
                </a:solidFill>
                <a:latin typeface="Calibri"/>
              </a:rPr>
              <a:t>~120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explosions civils, de 1965 a 1988 (xifra habitual)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1827"/>
                </a:solidFill>
                <a:latin typeface="Calibri"/>
              </a:rPr>
              <a:t>Un programa civil, separat dels assajos militars.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17320"/>
            <a:ext cx="36118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3400" y="1682496"/>
            <a:ext cx="548640" cy="54864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54533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Emmagatzemar 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6596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Doms de sal. Les 15 d'Astracan sí que es detecten.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17320"/>
            <a:ext cx="36118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38160" y="1682496"/>
            <a:ext cx="548640" cy="548640"/>
          </a:xfrm>
          <a:prstGeom prst="ellipse">
            <a:avLst/>
          </a:prstGeom>
          <a:solidFill>
            <a:srgbClr val="3B7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54533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Estimular jaciments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96596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Petroli i gas.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606040"/>
            <a:ext cx="36118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43400" y="2871216"/>
            <a:ext cx="548640" cy="54864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340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Sondeig sísmic profund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15468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Explorar l'escorça terrestre.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606040"/>
            <a:ext cx="36118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38160" y="2871216"/>
            <a:ext cx="548640" cy="548640"/>
          </a:xfrm>
          <a:prstGeom prst="ellipse">
            <a:avLst/>
          </a:prstGeom>
          <a:solidFill>
            <a:srgbClr val="3B7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7340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Canals i embassaments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15468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Moure grans volums de terra.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3794760"/>
            <a:ext cx="740664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43400" y="4059936"/>
            <a:ext cx="548640" cy="54864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92277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Apagar focs de pous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34340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0"/>
                </a:solidFill>
                <a:latin typeface="Calibri"/>
              </a:rPr>
              <a:t>De gas.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E8710A"/>
                </a:solidFill>
                <a:latin typeface="Calibri"/>
              </a:rPr>
              <a:t>Per què ens afecten?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66360"/>
            <a:ext cx="6492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No es feien als polígons militars, sinó en llocs aïllats de Sibèria, els Urals i el Kazakhstan: amb v_min = 2, una explosió sola en 25 km és soroll.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On falla el mètode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B2430"/>
                </a:solidFill>
                <a:latin typeface="Calibri"/>
              </a:rPr>
              <a:t>40 de 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Explosions aïllades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Assajos sols en 25 km, probablement civils soviètics: queden com a soroll.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E8710A"/>
                </a:solidFill>
                <a:latin typeface="Calibri"/>
              </a:rPr>
              <a:t>18 de 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Lop Nur (Xina)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889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Barrejades amb 29 terratrèmols del Tian Shan: la mediana del clúster és de 15,7 km.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3B7EA1"/>
                </a:solidFill>
                <a:latin typeface="Calibri"/>
              </a:rPr>
              <a:t>1961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Bomba Tsar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Explosió aèria a 4 km d'altura: el catàleg la posa a −4 km, fora de la finestra.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86200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11480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5B6370"/>
                </a:solidFill>
                <a:latin typeface="Calibri"/>
              </a:rPr>
              <a:t>1963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800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Assaig Shoal (Fallon)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21208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370"/>
                </a:solidFill>
                <a:latin typeface="Calibri"/>
              </a:rPr>
              <a:t>12 kt en granit, enmig d'una zona amb terratrèmols reals.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0"/>
                </a:solidFill>
                <a:latin typeface="Calibri"/>
              </a:rPr>
              <a:t>Limitacions: què no podem concloure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Arnau Montull · CPIA · Explosions nuclears amb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370"/>
                </a:solidFill>
                <a:latin typeface="Calibri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710A"/>
                </a:solidFill>
                <a:latin typeface="Calibri"/>
              </a:rPr>
              <a:t>Enfocament híbrid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11827"/>
                </a:solidFill>
                <a:latin typeface="Calibri"/>
              </a:rPr>
              <a:t>L'agrupament és no supervisat, però ε s'ha triat mirant l'etiqueta.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710A"/>
                </a:solidFill>
                <a:latin typeface="Calibri"/>
              </a:rPr>
              <a:t>Convenció del catàleg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11827"/>
                </a:solidFill>
                <a:latin typeface="Calibri"/>
              </a:rPr>
              <a:t>El 85 % de les explosions figura a 0,0 km: una finestra estreta mediria la convenció, no la física.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710A"/>
                </a:solidFill>
                <a:latin typeface="Calibri"/>
              </a:rPr>
              <a:t>Altres esdeveniments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11827"/>
                </a:solidFill>
                <a:latin typeface="Calibri"/>
              </a:rPr>
              <a:t>14 dels 57 FP són explosions, esfondraments o voladures. Sense ells, F₁ = 0,912.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14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710A"/>
                </a:solidFill>
                <a:latin typeface="Calibri"/>
              </a:rPr>
              <a:t>Sense conjunt de prova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75488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11827"/>
                </a:solidFill>
                <a:latin typeface="Calibri"/>
              </a:rPr>
              <a:t>S'ajusta i s'avalua sobre el mateix catàleg.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710A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Un agrupament sense etiquetes i una pista física recuperen el 90 % de les explosions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E8710A"/>
                </a:solidFill>
                <a:latin typeface="Calibri"/>
              </a:rPr>
              <a:t>0,902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519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1DB"/>
                </a:solidFill>
                <a:latin typeface="Calibri"/>
              </a:rPr>
              <a:t>F₁ sobre 298 127 esdeveniments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3832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2519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1DB"/>
                </a:solidFill>
                <a:latin typeface="Calibri"/>
              </a:rPr>
              <a:t>falsos positius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3832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551 / 614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2519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1DB"/>
                </a:solidFill>
                <a:latin typeface="Calibri"/>
              </a:rPr>
              <a:t>explosions detectades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C9D1DB"/>
                </a:solidFill>
                <a:latin typeface="Calibri"/>
              </a:rPr>
              <a:t>Pistes per investigar, no veredictes. Gràcies, preguntes?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