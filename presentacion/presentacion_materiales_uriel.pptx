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GUIÓ SLIDE 1:</a:t>
            </a:r>
          </a:p>
          <a:p>
            <a:r>
              <a:t>Bon dia tribunal i companys. Sóc l'Uriel i presento la classificació no supervisada de materials elèctrics mitjançant DBSCAN.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GUIÓ SLIDE 2:</a:t>
            </a:r>
          </a:p>
          <a:p>
            <a:r>
              <a:t>Definim el problema físic a partir de les equacions de transport:</a:t>
            </a:r>
          </a:p>
          <a:p>
            <a:r>
              <a:t>- La variació tèrmica de la resistivitat rho(T) i la seva derivada tèrmica alfa.</a:t>
            </a:r>
          </a:p>
          <a:p>
            <a:r>
              <a:t>- Metalls: bandes solapades, electrons lliures, alfa positiu per xocs amb fonons de la xarxa.</a:t>
            </a:r>
          </a:p>
          <a:p>
            <a:r>
              <a:t>- Semiconductors: bandgap moderat, alfa negatiu per activació tèrmica exponencial segons Boltzmann.</a:t>
            </a:r>
          </a:p>
          <a:p>
            <a:r>
              <a:t>- Aïllants: bandgap colossal (&gt; 5 eV), sense portadors lliures a 300 K, alfa nul i resistivitat gegantina.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GUIÓ SLIDE 3:</a:t>
            </a:r>
          </a:p>
          <a:p>
            <a:r>
              <a:t>Disposem de 57 materials reals al dataset.</a:t>
            </a:r>
          </a:p>
          <a:p>
            <a:r>
              <a:t>Com s'aprecia al gràfic comparatiu: en escala lineal, el 99% dels materials s'aixafa al zero. El logaritme de resistivitat és imprescindible per desplegar l'espai, i combinat amb alfa crea un pla ideal per al clustering.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GUIÓ SLIDE 4:</a:t>
            </a:r>
          </a:p>
          <a:p>
            <a:r>
              <a:t>Pregunta clau: per què DBSCAN i no K-Means?</a:t>
            </a:r>
          </a:p>
          <a:p>
            <a:r>
              <a:t>Al gràfic de la dreta es veu clar: K-Means imposa fronteres esfèriques forçades. En tenir metalls ultra concentrats i aïllants dispersos, K-Means falla. DBSCAN segueix els camins de densitat natural i aïlla punts atípics com a soroll.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GUIÓ SLIDE 5:</a:t>
            </a:r>
          </a:p>
          <a:p>
            <a:r>
              <a:t>En metodologia: fórmules en LaTeX clares i netes.</a:t>
            </a:r>
          </a:p>
          <a:p>
            <a:r>
              <a:t>1. Escalat Z-Score manual amb NumPy per igualar variàncies.</a:t>
            </a:r>
          </a:p>
          <a:p>
            <a:r>
              <a:t>2. Criteri de nucli de DBSCAN: punts amb almenys min_samples veïns en radi èpsilon.</a:t>
            </a:r>
          </a:p>
          <a:p>
            <a:r>
              <a:t>3. Hiperparàmetres fixats rigorosament: min_samples=3 (dimensió + 1) i èpsilon=0.65 obtingut pel colze k-NN.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GUIÓ SLIDE 6:</a:t>
            </a:r>
          </a:p>
          <a:p>
            <a:r>
              <a:t>Aquest és el resultat gràfic final en pantalla gran:</a:t>
            </a:r>
          </a:p>
          <a:p>
            <a:r>
              <a:t>- Clúster 0 (ambre): Metalls conductors (Cu, Ag, Au, Al) concentrats a dalt a l'esquerra amb alfa &gt; 0.</a:t>
            </a:r>
          </a:p>
          <a:p>
            <a:r>
              <a:t>- Clúster 1 (blau): Aïllants dielèctrics (Vidre, Quars, Tefló) a la dreta amb alfa centrat a zero.</a:t>
            </a:r>
          </a:p>
          <a:p>
            <a:r>
              <a:t>- Clúster 2 (verd): Semiconductors (Silici, Germani, GaAs) a sota, clarament separats per alfa fortament negatiu.</a:t>
            </a:r>
          </a:p>
          <a:p>
            <a:r>
              <a:t>La línia horitzontal d'alfa = 0 marca la divisió física fonamental entre xocs de fonons i generació tèrmica de portadors.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GUIÓ SLIDE 7:</a:t>
            </a:r>
          </a:p>
          <a:p>
            <a:r>
              <a:t>Pel que fa a validació, la prova reina és la Matriu de Contingència Física:</a:t>
            </a:r>
          </a:p>
          <a:p>
            <a:r>
              <a:t>- 100% de puresa en conductors (35 de 35 metalls al clúster 0).</a:t>
            </a:r>
          </a:p>
          <a:p>
            <a:r>
              <a:t>- 100% de puresa en aïllants (10 de 10 dielèctrics al clúster 1).</a:t>
            </a:r>
          </a:p>
          <a:p>
            <a:r>
              <a:t>- En semiconductors, els 10 materials tecnològics purs formen el clúster 2. Els dos restants són semimetalls amb transport cuasimetàl·lic a 300 K.</a:t>
            </a:r>
          </a:p>
          <a:p>
            <a:r>
              <a:t>I com a mètrica matemàtica complementària, la fórmula de Silhouette Score dona 0.7858.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GUIÓ SLIDE 8:</a:t>
            </a:r>
          </a:p>
          <a:p>
            <a:r>
              <a:t>Per concloure:</a:t>
            </a:r>
          </a:p>
          <a:p>
            <a:r>
              <a:t>1. DBSCAN demostra que la densitat espacial macroscòpica reflecteix fidelment la física quàntica de bandes.</a:t>
            </a:r>
          </a:p>
          <a:p>
            <a:r>
              <a:t>2. Ha demostrat ser l'eina adequada davant K-Means en tolerar densitats desiguals.</a:t>
            </a:r>
          </a:p>
          <a:p>
            <a:r>
              <a:t>3. Amb només dues variables físiques i una estandardització rigorosa, s'obté un 100% de puresa en conductors i aïllants.</a:t>
            </a:r>
          </a:p>
          <a:p>
            <a:r>
              <a:t>Moltes gràcies.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Arial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1188720" y="1188720"/>
            <a:ext cx="9784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CPIA · APRENENTATGE NO SUPERVISAT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1737360"/>
            <a:ext cx="9784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Classificació de Materials Elèctrics mitjançant DBSCAN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291840"/>
            <a:ext cx="97840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Descobriment No Supervisat de Fases Quàntiques (Conductors, Semiconductors i Aïllants)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4297680"/>
            <a:ext cx="978408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Uriel · Grau en Enginyeria Física (UPC)</a:t>
            </a:r>
          </a:p>
          <a:p>
            <a:pPr>
              <a:defRPr sz="14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Equip: Matías · Martí · Uriel · Arnau Montull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CPIA · APRENENTATGE NO SUPERVISAT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El Problema Físic: Estructura de Bandes i Signatures Tèrmiques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25880"/>
            <a:ext cx="10728655" cy="1143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Arial"/>
              </a:defRPr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914400" y="1371600"/>
            <a:ext cx="10332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Equacions Macroscòpiques de Transport Elèctric:</a:t>
            </a:r>
          </a:p>
        </p:txBody>
      </p:sp>
      <p:pic>
        <p:nvPicPr>
          <p:cNvPr id="6" name="Picture 5" descr="formula_transpor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4560" y="1664208"/>
            <a:ext cx="7772400" cy="1248039"/>
          </a:xfrm>
          <a:prstGeom prst="rect">
            <a:avLst/>
          </a:prstGeom>
        </p:spPr>
      </p:pic>
      <p:pic>
        <p:nvPicPr>
          <p:cNvPr id="7" name="Picture 6" descr="esquema_bandas_material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606040"/>
            <a:ext cx="10728655" cy="380084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CPIA · APRENENTATGE NO SUPERVISAT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Dataset Experimental i Espai de Treball (log₁₀ρ, α)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420624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Arial"/>
              </a:defRPr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3840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Com classificar sense etiquetes?</a:t>
            </a:r>
          </a:p>
        </p:txBody>
      </p:sp>
      <p:pic>
        <p:nvPicPr>
          <p:cNvPr id="6" name="Picture 5" descr="formula_coordena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103120"/>
            <a:ext cx="3749039" cy="67093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2834640"/>
            <a:ext cx="38404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15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57 Materials reals: Metalls purs, aliatges, semiconductors i dielèctrics.</a:t>
            </a:r>
          </a:p>
          <a:p>
            <a:pPr>
              <a:spcAft>
                <a:spcPts val="700"/>
              </a:spcAft>
              <a:defRPr sz="115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30 ordres de magnitud: De conductors (~10⁻⁸ Ω·m) a tefló (&gt; 10²² Ω·m).</a:t>
            </a:r>
          </a:p>
          <a:p>
            <a:pPr>
              <a:spcAft>
                <a:spcPts val="700"/>
              </a:spcAft>
              <a:defRPr sz="115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Compressió logarítmica: Evita el col·lapse numèric a l'origen.</a:t>
            </a:r>
          </a:p>
          <a:p>
            <a:pPr>
              <a:spcAft>
                <a:spcPts val="700"/>
              </a:spcAft>
              <a:defRPr sz="115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Signatura quàntica: α delata l'origen microscòpic del transport.</a:t>
            </a:r>
          </a:p>
          <a:p>
            <a:pPr>
              <a:spcAft>
                <a:spcPts val="700"/>
              </a:spcAft>
              <a:defRPr sz="115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Objectiu no supervisat: Descobrir les classes automàticament per densitat.</a:t>
            </a:r>
          </a:p>
        </p:txBody>
      </p:sp>
      <p:pic>
        <p:nvPicPr>
          <p:cNvPr id="8" name="Picture 7" descr="distribucion_escala_rh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0" y="1737360"/>
            <a:ext cx="6309360" cy="235804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CPIA · APRENENTATGE NO SUPERVISAT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Per què DBSCAN i no K-Means?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438912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Arial"/>
              </a:defRPr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4023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K-Means (Inadequat en aquest domini)</a:t>
            </a:r>
          </a:p>
          <a:p>
            <a:pPr>
              <a:spcAft>
                <a:spcPts val="4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✖  Assumeix grups esfèrics i isodensos (igual variància).</a:t>
            </a:r>
          </a:p>
          <a:p>
            <a:pPr>
              <a:spcAft>
                <a:spcPts val="4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✖  Fractura el grup dispers d'aïllants.</a:t>
            </a:r>
          </a:p>
          <a:p>
            <a:pPr>
              <a:spcAft>
                <a:spcPts val="4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✖  Exigeix prefixar 'k' a priori de forma arbitrària.</a:t>
            </a:r>
          </a:p>
          <a:p>
            <a:pPr>
              <a:spcAft>
                <a:spcPts val="4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✖  No detecta soroll: força anomalies a tenir clúster.</a:t>
            </a:r>
          </a:p>
          <a:p>
            <a:br/>
            <a:pPr>
              <a:defRPr sz="15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DBSCAN (Elecció Òptima)</a:t>
            </a:r>
          </a:p>
          <a:p>
            <a:pPr>
              <a:spcAft>
                <a:spcPts val="4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✔  Connecta per densitat local de qualsevol forma.</a:t>
            </a:r>
          </a:p>
          <a:p>
            <a:pPr>
              <a:spcAft>
                <a:spcPts val="4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✔  Tolera metalls hiperdensos i aïllants laxos.</a:t>
            </a:r>
          </a:p>
          <a:p>
            <a:pPr>
              <a:spcAft>
                <a:spcPts val="4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✔  Descobreix el nombre de clústers sense prefixar k.</a:t>
            </a:r>
          </a:p>
          <a:p>
            <a:pPr>
              <a:spcAft>
                <a:spcPts val="4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✔  Etiqueta soroll i anomalies de forma nativa (-1).</a:t>
            </a:r>
          </a:p>
        </p:txBody>
      </p:sp>
      <p:pic>
        <p:nvPicPr>
          <p:cNvPr id="6" name="Picture 5" descr="comparativa_kmeans_dbsc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645920"/>
            <a:ext cx="6126480" cy="253722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CPIA · APRENENTATGE NO SUPERVISAT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Metodologia Matemàtica: Fórmules i Paràmetres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333756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Arial"/>
              </a:defRPr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2971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1. Estandardització Z-Score</a:t>
            </a:r>
            <a:br/>
            <a:r>
              <a:rPr>
                <a:latin typeface="Arial"/>
              </a:rPr>
              <a:t>(Implementada amb NumPy)</a:t>
            </a:r>
          </a:p>
        </p:txBody>
      </p:sp>
      <p:pic>
        <p:nvPicPr>
          <p:cNvPr id="6" name="Picture 5" descr="formula_zsc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331720"/>
            <a:ext cx="3063240" cy="55586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3703320"/>
            <a:ext cx="29718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μ = Mitjana mostral per columna</a:t>
            </a:r>
          </a:p>
          <a:p>
            <a:pPr>
              <a:spcAft>
                <a:spcPts val="5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σ = Desviació estàndard típica</a:t>
            </a:r>
          </a:p>
          <a:p>
            <a:pPr>
              <a:spcAft>
                <a:spcPts val="5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Resultat: Mitjana = 0, Variància = 1</a:t>
            </a:r>
          </a:p>
          <a:p>
            <a:pPr>
              <a:spcAft>
                <a:spcPts val="5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Imprescindible: equipara el rang de log₁₀ρ (~31) amb el d'α (~0.08) per a la distància euclidiana.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1463040"/>
            <a:ext cx="333756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4617720" y="1600200"/>
            <a:ext cx="2971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2. Criteri de Nucli</a:t>
            </a:r>
            <a:br/>
            <a:r>
              <a:rPr>
                <a:latin typeface="Arial"/>
              </a:rPr>
              <a:t>(DBSCAN Espacial)</a:t>
            </a:r>
          </a:p>
        </p:txBody>
      </p:sp>
      <p:pic>
        <p:nvPicPr>
          <p:cNvPr id="10" name="Picture 9" descr="formula_nucle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2331720"/>
            <a:ext cx="3063240" cy="5558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617720" y="3703320"/>
            <a:ext cx="29718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d(p, q) = Distància Euclidiana en 2D</a:t>
            </a:r>
          </a:p>
          <a:p>
            <a:pPr>
              <a:spcAft>
                <a:spcPts val="4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Punt Nucli (Core Point):</a:t>
            </a:r>
          </a:p>
          <a:p>
            <a:pPr>
              <a:spcAft>
                <a:spcPts val="4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   |N_ε(p)| ≥ min_samples</a:t>
            </a:r>
          </a:p>
          <a:p>
            <a:pPr>
              <a:spcAft>
                <a:spcPts val="4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Punt Frontera (Border):</a:t>
            </a:r>
          </a:p>
          <a:p>
            <a:pPr>
              <a:spcAft>
                <a:spcPts val="4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   Assolible des d'un nucli</a:t>
            </a:r>
          </a:p>
          <a:p>
            <a:pPr>
              <a:spcAft>
                <a:spcPts val="4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Soroll (Noise):</a:t>
            </a:r>
          </a:p>
          <a:p>
            <a:pPr>
              <a:spcAft>
                <a:spcPts val="4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   No assolible (|N_ε| &lt; min_samples)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1463040"/>
            <a:ext cx="333756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Arial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321040" y="1600200"/>
            <a:ext cx="2971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3. Paràmetres Fixats</a:t>
            </a:r>
            <a:br/>
            <a:r>
              <a:rPr>
                <a:latin typeface="Arial"/>
              </a:rPr>
              <a:t>(Criteri Objectiu)</a:t>
            </a:r>
          </a:p>
        </p:txBody>
      </p:sp>
      <p:pic>
        <p:nvPicPr>
          <p:cNvPr id="14" name="Picture 13" descr="formula_parametro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5320" y="2331720"/>
            <a:ext cx="3063240" cy="52177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321040" y="3703320"/>
            <a:ext cx="29718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min_samples = 3:</a:t>
            </a:r>
          </a:p>
          <a:p>
            <a:pPr>
              <a:spcAft>
                <a:spcPts val="5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   Regla canònica k ≥ d + 1 (dimensió d = 2).</a:t>
            </a:r>
          </a:p>
          <a:p>
            <a:pPr>
              <a:spcAft>
                <a:spcPts val="5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ε = 0.65:</a:t>
            </a:r>
          </a:p>
          <a:p>
            <a:pPr>
              <a:spcAft>
                <a:spcPts val="5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   Determinat mitjançant gràfic k-NN (colze).</a:t>
            </a:r>
          </a:p>
          <a:p>
            <a:pPr>
              <a:spcAft>
                <a:spcPts val="5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   Finestra òptima que aïlla aïllants sense fusionar metalls.</a:t>
            </a:r>
          </a:p>
          <a:p>
            <a:pPr>
              <a:spcAft>
                <a:spcPts val="5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Execució: scikit-learn DBSCAN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Resultat DBSCAN: Classificació 2D de Materials Elèctrics</a:t>
            </a:r>
          </a:p>
          <a:p>
            <a:pPr>
              <a:defRPr sz="13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ε = 0.65 · min_samples = 3  |  3 Clústers descoberts  |  0 Soroll</a:t>
            </a:r>
          </a:p>
        </p:txBody>
      </p:sp>
      <p:pic>
        <p:nvPicPr>
          <p:cNvPr id="3" name="Picture 2" descr="clusters_materiales_dbsc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051560"/>
            <a:ext cx="10149840" cy="659739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CPIA · APRENENTATGE NO SUPERVISAT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Validació Experimental: Matriu de Contingència Física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3337560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Arial"/>
              </a:defRPr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2971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Conductors (Metalls)</a:t>
            </a:r>
          </a:p>
          <a:p>
            <a:pPr algn="ctr">
              <a:defRPr sz="32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35 / 35</a:t>
            </a:r>
          </a:p>
          <a:p>
            <a:pPr algn="ctr">
              <a:defRPr sz="16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100 % Puresa</a:t>
            </a:r>
          </a:p>
          <a:p>
            <a:br/>
            <a:pPr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Assignats íntegrament al Clúster 0. Zero falsos negatius.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34840" y="1463040"/>
            <a:ext cx="3337560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4617720" y="1645920"/>
            <a:ext cx="2971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Aïllants (Dielèctrics)</a:t>
            </a:r>
          </a:p>
          <a:p>
            <a:pPr algn="ctr">
              <a:defRPr sz="32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10 / 10</a:t>
            </a:r>
          </a:p>
          <a:p>
            <a:pPr algn="ctr">
              <a:defRPr sz="16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100 % Puresa</a:t>
            </a:r>
          </a:p>
          <a:p>
            <a:br/>
            <a:pPr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Assignats íntegrament al Clúster 1. Coincidència total amb la física.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1463040"/>
            <a:ext cx="3337560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321040" y="1645920"/>
            <a:ext cx="2971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Semiconductors</a:t>
            </a:r>
          </a:p>
          <a:p>
            <a:pPr algn="ctr">
              <a:defRPr sz="32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10 / 12</a:t>
            </a:r>
          </a:p>
          <a:p>
            <a:pPr algn="ctr">
              <a:defRPr sz="16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83.3 % Puresa</a:t>
            </a:r>
          </a:p>
          <a:p>
            <a:br/>
            <a:pPr>
              <a:defRPr sz="105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10 al Clúster 2. 2 semimetalls classificats al clúster 0 per conducció cuasimetàl·lica.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800600"/>
            <a:ext cx="10728655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1005840" y="4892040"/>
            <a:ext cx="10149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Mètrica Matemàtica Complementària (No Supervisada):</a:t>
            </a:r>
          </a:p>
        </p:txBody>
      </p:sp>
      <p:pic>
        <p:nvPicPr>
          <p:cNvPr id="12" name="Picture 11" descr="formula_silhouet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0" y="5257800"/>
            <a:ext cx="8046720" cy="135684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CPIA · APRENENTATGE NO SUPERVISAT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Conclusions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1554480"/>
            <a:ext cx="9997135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Arial"/>
              </a:defRPr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1463040" y="1828800"/>
            <a:ext cx="92354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Punts Clau del Projecte</a:t>
            </a:r>
          </a:p>
          <a:p>
            <a:pPr>
              <a:spcAft>
                <a:spcPts val="12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✔  Física de bandes sense supervisió:  DBSCAN descobreix de manera autònoma les 3 fases de conducció (conductors, aïllants i semiconductors) a partir de propietats macroscòpiques.</a:t>
            </a:r>
          </a:p>
          <a:p>
            <a:pPr>
              <a:spcAft>
                <a:spcPts val="12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✔  Immune a densitats dispars:  Supera K-Means agrupant simultàniament la ultradensitat dels metalls i la dispersió de 12 ordres de magnitud dels aïllants.</a:t>
            </a:r>
          </a:p>
          <a:p>
            <a:pPr>
              <a:spcAft>
                <a:spcPts val="12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✔  Variables òptimes:  L'escala logarítmica log₁₀(ρ) i el coeficient tèrmic quàntic α són suficients per separar completament els règims de transport.</a:t>
            </a:r>
          </a:p>
          <a:p>
            <a:pPr>
              <a:spcAft>
                <a:spcPts val="1200"/>
              </a:spcAft>
              <a:defRPr sz="14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✔  Validació rotunda:  100% de puresa en conductors i aïllants amb Silhouette Score = 0.7858.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