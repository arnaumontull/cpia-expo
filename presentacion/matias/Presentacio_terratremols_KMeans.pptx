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hpCjtrimhhm/4TcJHFvyCcPYsJ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FF8601-3F7B-4A68-B281-4DFAFF97BAD5}">
  <a:tblStyle styleId="{3BFF8601-3F7B-4A68-B281-4DFAFF97BAD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F3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15314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909560" y="3383280"/>
            <a:ext cx="3566160" cy="3566160"/>
          </a:xfrm>
          <a:prstGeom prst="ellipse">
            <a:avLst/>
          </a:prstGeom>
          <a:noFill/>
          <a:ln cap="flat" cmpd="sng" w="19050">
            <a:solidFill>
              <a:srgbClr val="1E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8275320" y="3749039"/>
            <a:ext cx="2834640" cy="2834640"/>
          </a:xfrm>
          <a:prstGeom prst="ellipse">
            <a:avLst/>
          </a:prstGeom>
          <a:noFill/>
          <a:ln cap="flat" cmpd="sng" w="19050">
            <a:solidFill>
              <a:srgbClr val="66D3D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8641080" y="4114800"/>
            <a:ext cx="2103120" cy="2103120"/>
          </a:xfrm>
          <a:prstGeom prst="ellipse">
            <a:avLst/>
          </a:prstGeom>
          <a:noFill/>
          <a:ln cap="flat" cmpd="sng" w="19050">
            <a:solidFill>
              <a:srgbClr val="417B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9006840" y="4480560"/>
            <a:ext cx="1371600" cy="1371600"/>
          </a:xfrm>
          <a:prstGeom prst="ellipse">
            <a:avLst/>
          </a:prstGeom>
          <a:noFill/>
          <a:ln cap="flat" cmpd="sng" w="19050">
            <a:solidFill>
              <a:srgbClr val="1E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9372600" y="4846320"/>
            <a:ext cx="640080" cy="640080"/>
          </a:xfrm>
          <a:prstGeom prst="ellipse">
            <a:avLst/>
          </a:prstGeom>
          <a:noFill/>
          <a:ln cap="flat" cmpd="sng" w="19050">
            <a:solidFill>
              <a:srgbClr val="66D3D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731520" y="731520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6D3D0"/>
                </a:solidFill>
                <a:latin typeface="Arial"/>
                <a:ea typeface="Arial"/>
                <a:cs typeface="Arial"/>
                <a:sym typeface="Arial"/>
              </a:rPr>
              <a:t>ANÀLISI DE DADES · SISMOLOGIA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31520" y="1417320"/>
            <a:ext cx="65836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Terratrèmols:</a:t>
            </a:r>
            <a:br>
              <a:rPr b="1" i="0" lang="en-US" sz="34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4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patrons i anomalies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3246120"/>
            <a:ext cx="6035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D2E0EB"/>
                </a:solidFill>
                <a:latin typeface="Arial"/>
                <a:ea typeface="Arial"/>
                <a:cs typeface="Arial"/>
                <a:sym typeface="Arial"/>
              </a:rPr>
              <a:t>Clustering amb K-Means i detecció d’esdeveniments atípics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777240" y="4617720"/>
            <a:ext cx="731520" cy="54864"/>
          </a:xfrm>
          <a:prstGeom prst="rect">
            <a:avLst/>
          </a:prstGeom>
          <a:solidFill>
            <a:srgbClr val="F4B74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4892040"/>
            <a:ext cx="5943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2E0EB"/>
                </a:solidFill>
                <a:latin typeface="Arial"/>
                <a:ea typeface="Arial"/>
                <a:cs typeface="Arial"/>
                <a:sym typeface="Arial"/>
              </a:rPr>
              <a:t>Presentació del projecte · Python · Aprenentatge no supervisat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6080760"/>
            <a:ext cx="6217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EC2D1"/>
                </a:solidFill>
                <a:latin typeface="Arial"/>
                <a:ea typeface="Arial"/>
                <a:cs typeface="Arial"/>
                <a:sym typeface="Arial"/>
              </a:rPr>
              <a:t>Nom i grup: ____________________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10424160" y="6172200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6D3D0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/>
        </p:nvSpPr>
        <p:spPr>
          <a:xfrm>
            <a:off x="566928" y="256032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A0A0"/>
                </a:solidFill>
                <a:latin typeface="Arial"/>
                <a:ea typeface="Arial"/>
                <a:cs typeface="Arial"/>
                <a:sym typeface="Arial"/>
              </a:rPr>
              <a:t>01 · PUNT DE PARTIDA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I si milers de terratrèmols amaguen patrons?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594360" y="1124712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Pregunta inicial: podem resumir dades sísmiques i detectar registres que s’allunyen del comportament habitual?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594360" y="1572768"/>
            <a:ext cx="502920" cy="50292"/>
          </a:xfrm>
          <a:prstGeom prst="rect">
            <a:avLst/>
          </a:prstGeom>
          <a:solidFill>
            <a:srgbClr val="1EA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640080" y="1874519"/>
            <a:ext cx="3474720" cy="1874519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640080" y="1874519"/>
            <a:ext cx="73152" cy="1874519"/>
          </a:xfrm>
          <a:prstGeom prst="rect">
            <a:avLst/>
          </a:prstGeom>
          <a:solidFill>
            <a:srgbClr val="1EA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41247" y="2039112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EL REPTE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841247" y="2468879"/>
            <a:ext cx="3090672" cy="1188719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Un fitxer amb milers de registres és difícil d’interpretar mirant fila per fila.</a:t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4343400" y="1874519"/>
            <a:ext cx="3474720" cy="1874519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4343400" y="1874519"/>
            <a:ext cx="73152" cy="1874519"/>
          </a:xfrm>
          <a:prstGeom prst="rect">
            <a:avLst/>
          </a:prstGeom>
          <a:solidFill>
            <a:srgbClr val="F4B74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4544568" y="2039112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LA IDEA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4544568" y="2468879"/>
            <a:ext cx="3090672" cy="1188719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Deixar que un algorisme agrupi esdeveniments semblants segons les seves característiques.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8046720" y="1874519"/>
            <a:ext cx="3474720" cy="1874519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8046720" y="1874519"/>
            <a:ext cx="73152" cy="1874519"/>
          </a:xfrm>
          <a:prstGeom prst="rect">
            <a:avLst/>
          </a:prstGeom>
          <a:solidFill>
            <a:srgbClr val="DB4E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8247888" y="2039112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EL RESULTAT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8247888" y="2468879"/>
            <a:ext cx="3090672" cy="1188719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Un mapa de grups, un resum quantitatiu i una llista d’esdeveniments atípics per investigar.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777240" y="434340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Important: l’algorisme explora patrons; no prediu quan ni on passarà el pròxim terratrèmol.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/>
        </p:nvSpPr>
        <p:spPr>
          <a:xfrm>
            <a:off x="566928" y="256032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A0A0"/>
                </a:solidFill>
                <a:latin typeface="Arial"/>
                <a:ea typeface="Arial"/>
                <a:cs typeface="Arial"/>
                <a:sym typeface="Arial"/>
              </a:rPr>
              <a:t>02 · INTERÈS I OBJECTIU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Per què val la pena fer-ho?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594360" y="1124712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El projecte transforma una taula en evidència visual i preguntes que es poden investigar.</a:t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594360" y="1572768"/>
            <a:ext cx="502920" cy="50292"/>
          </a:xfrm>
          <a:prstGeom prst="rect">
            <a:avLst/>
          </a:prstGeom>
          <a:solidFill>
            <a:srgbClr val="1EA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640080" y="1874519"/>
            <a:ext cx="3474720" cy="22860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640080" y="1874519"/>
            <a:ext cx="73152" cy="2286000"/>
          </a:xfrm>
          <a:prstGeom prst="rect">
            <a:avLst/>
          </a:prstGeom>
          <a:solidFill>
            <a:srgbClr val="1EA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841247" y="2039112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CIÈNCIA</a:t>
            </a:r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841247" y="2468879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Explorar relacions entre magnitud, profunditat i localització.</a:t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4343400" y="1874519"/>
            <a:ext cx="3474720" cy="22860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4343400" y="1874519"/>
            <a:ext cx="73152" cy="2286000"/>
          </a:xfrm>
          <a:prstGeom prst="rect">
            <a:avLst/>
          </a:prstGeom>
          <a:solidFill>
            <a:srgbClr val="F4B74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4544568" y="2039112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DADES</a:t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4544568" y="2468879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Practicar neteja, normalització, modelatge i validació amb dades reals.</a:t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8046720" y="1874519"/>
            <a:ext cx="3474720" cy="22860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8046720" y="1874519"/>
            <a:ext cx="73152" cy="2286000"/>
          </a:xfrm>
          <a:prstGeom prst="rect">
            <a:avLst/>
          </a:prstGeom>
          <a:solidFill>
            <a:srgbClr val="DB4E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8247888" y="2039112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COMUNICACIÓ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8247888" y="2468879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Explicar milers de punts amb mapes, gràfics i indicadors interpretables.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777240" y="4709160"/>
            <a:ext cx="10698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Objectiu general: trobar grups exploratoris de terratrèmols i assenyalar els registres més allunyats dels seus veïns.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/>
          <p:nvPr/>
        </p:nvSpPr>
        <p:spPr>
          <a:xfrm>
            <a:off x="566928" y="256032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A0A0"/>
                </a:solidFill>
                <a:latin typeface="Arial"/>
                <a:ea typeface="Arial"/>
                <a:cs typeface="Arial"/>
                <a:sym typeface="Arial"/>
              </a:rPr>
              <a:t>03 · DADES D’ENTRADA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Què analitzem?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594360" y="1124712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Fitxer utilitzat: earthquakes.csv · les xifres següents s’han calculat sobre el fitxer proporcionat.</a:t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594360" y="1572768"/>
            <a:ext cx="502920" cy="50292"/>
          </a:xfrm>
          <a:prstGeom prst="rect">
            <a:avLst/>
          </a:prstGeom>
          <a:solidFill>
            <a:srgbClr val="1EA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731520" y="1874519"/>
            <a:ext cx="2834640" cy="1234440"/>
          </a:xfrm>
          <a:prstGeom prst="roundRect">
            <a:avLst>
              <a:gd fmla="val 12000" name="adj"/>
            </a:avLst>
          </a:prstGeom>
          <a:solidFill>
            <a:srgbClr val="111F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914400" y="205740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10.174</a:t>
            </a:r>
            <a:endParaRPr/>
          </a:p>
        </p:txBody>
      </p:sp>
      <p:sp>
        <p:nvSpPr>
          <p:cNvPr id="152" name="Google Shape;152;p4"/>
          <p:cNvSpPr txBox="1"/>
          <p:nvPr/>
        </p:nvSpPr>
        <p:spPr>
          <a:xfrm>
            <a:off x="914400" y="25603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6D3D0"/>
                </a:solidFill>
                <a:latin typeface="Arial"/>
                <a:ea typeface="Arial"/>
                <a:cs typeface="Arial"/>
                <a:sym typeface="Arial"/>
              </a:rPr>
              <a:t>registres analitzats</a:t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3840480" y="1874519"/>
            <a:ext cx="3474720" cy="123444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3840480" y="1874519"/>
            <a:ext cx="73152" cy="1234440"/>
          </a:xfrm>
          <a:prstGeom prst="rect">
            <a:avLst/>
          </a:prstGeom>
          <a:solidFill>
            <a:srgbClr val="1EA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4041648" y="2039112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4 variables</a:t>
            </a:r>
            <a:endParaRPr/>
          </a:p>
        </p:txBody>
      </p:sp>
      <p:sp>
        <p:nvSpPr>
          <p:cNvPr id="156" name="Google Shape;156;p4"/>
          <p:cNvSpPr txBox="1"/>
          <p:nvPr/>
        </p:nvSpPr>
        <p:spPr>
          <a:xfrm>
            <a:off x="4041648" y="2468879"/>
            <a:ext cx="3090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magnitud · </a:t>
            </a:r>
            <a:r>
              <a:rPr lang="en-US" sz="1300">
                <a:solidFill>
                  <a:srgbClr val="1D2B3D"/>
                </a:solidFill>
              </a:rPr>
              <a:t>profunditat</a:t>
            </a:r>
            <a:r>
              <a:rPr b="0" i="0" lang="en-US" sz="13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 · latitud · longitud</a:t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7543800" y="1874519"/>
            <a:ext cx="3657600" cy="123444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7543800" y="1874519"/>
            <a:ext cx="73152" cy="1234440"/>
          </a:xfrm>
          <a:prstGeom prst="rect">
            <a:avLst/>
          </a:prstGeom>
          <a:solidFill>
            <a:srgbClr val="F4B74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7744968" y="2039112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Neteja</a:t>
            </a:r>
            <a:endParaRPr/>
          </a:p>
        </p:txBody>
      </p:sp>
      <p:sp>
        <p:nvSpPr>
          <p:cNvPr id="160" name="Google Shape;160;p4"/>
          <p:cNvSpPr txBox="1"/>
          <p:nvPr/>
        </p:nvSpPr>
        <p:spPr>
          <a:xfrm>
            <a:off x="7744968" y="2468879"/>
            <a:ext cx="32735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S’eliminen files amb valors absents en les 4 variables.</a:t>
            </a:r>
            <a:endParaRPr/>
          </a:p>
        </p:txBody>
      </p:sp>
      <p:graphicFrame>
        <p:nvGraphicFramePr>
          <p:cNvPr id="161" name="Google Shape;161;p4"/>
          <p:cNvGraphicFramePr/>
          <p:nvPr/>
        </p:nvGraphicFramePr>
        <p:xfrm>
          <a:off x="960120" y="3520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{3BFF8601-3F7B-4A68-B281-4DFAFF97BAD5}</a:tableStyleId>
              </a:tblPr>
              <a:tblGrid>
                <a:gridCol w="1508750"/>
                <a:gridCol w="3246125"/>
              </a:tblGrid>
              <a:tr h="46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Variable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Què representa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111F36"/>
                    </a:solidFill>
                  </a:tcPr>
                </a:tc>
              </a:tr>
              <a:tr h="46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mag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Magnitud registrada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</a:tr>
              <a:tr h="46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depth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E7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Profunditat (km)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E7EFF5"/>
                    </a:solidFill>
                  </a:tcPr>
                </a:tc>
              </a:tr>
              <a:tr h="46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latitude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Latitud geogràfica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</a:tr>
              <a:tr h="46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longitude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E7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Longitud geogràfica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E7EFF5"/>
                    </a:solidFill>
                  </a:tcPr>
                </a:tc>
              </a:tr>
            </a:tbl>
          </a:graphicData>
        </a:graphic>
      </p:graphicFrame>
      <p:sp>
        <p:nvSpPr>
          <p:cNvPr id="162" name="Google Shape;162;p4"/>
          <p:cNvSpPr txBox="1"/>
          <p:nvPr/>
        </p:nvSpPr>
        <p:spPr>
          <a:xfrm>
            <a:off x="6172200" y="3657600"/>
            <a:ext cx="49377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Per què aquestes quatre?</a:t>
            </a:r>
            <a:endParaRPr/>
          </a:p>
        </p:txBody>
      </p:sp>
      <p:sp>
        <p:nvSpPr>
          <p:cNvPr id="163" name="Google Shape;163;p4"/>
          <p:cNvSpPr txBox="1"/>
          <p:nvPr/>
        </p:nvSpPr>
        <p:spPr>
          <a:xfrm>
            <a:off x="6172200" y="4114800"/>
            <a:ext cx="49377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•  Magnitud: mida de l’esdeveniment.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•  Profunditat: context físic del sisme.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•  Coordenades: distribució espacial.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/>
          <p:cNvSpPr txBox="1"/>
          <p:nvPr/>
        </p:nvSpPr>
        <p:spPr>
          <a:xfrm>
            <a:off x="566928" y="256032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A0A0"/>
                </a:solidFill>
                <a:latin typeface="Arial"/>
                <a:ea typeface="Arial"/>
                <a:cs typeface="Arial"/>
                <a:sym typeface="Arial"/>
              </a:rPr>
              <a:t>04 · ESTRATÈGIA</a:t>
            </a:r>
            <a:endParaRPr/>
          </a:p>
        </p:txBody>
      </p:sp>
      <p:sp>
        <p:nvSpPr>
          <p:cNvPr id="169" name="Google Shape;169;p5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Com es podria resoldre el problema?</a:t>
            </a:r>
            <a:endParaRPr/>
          </a:p>
        </p:txBody>
      </p:sp>
      <p:sp>
        <p:nvSpPr>
          <p:cNvPr id="170" name="Google Shape;170;p5"/>
          <p:cNvSpPr txBox="1"/>
          <p:nvPr/>
        </p:nvSpPr>
        <p:spPr>
          <a:xfrm>
            <a:off x="594360" y="1124712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S’han triat mètodes no supervisats perquè no hi ha etiquetes prèvies que indiquin el grup correcte.</a:t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594360" y="1572768"/>
            <a:ext cx="502920" cy="50292"/>
          </a:xfrm>
          <a:prstGeom prst="rect">
            <a:avLst/>
          </a:prstGeom>
          <a:solidFill>
            <a:srgbClr val="1EA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640080" y="1874519"/>
            <a:ext cx="3520440" cy="224028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640080" y="1874519"/>
            <a:ext cx="73152" cy="2240280"/>
          </a:xfrm>
          <a:prstGeom prst="rect">
            <a:avLst/>
          </a:prstGeom>
          <a:solidFill>
            <a:srgbClr val="1EA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841247" y="2039112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1 · K-Means</a:t>
            </a:r>
            <a:endParaRPr/>
          </a:p>
        </p:txBody>
      </p:sp>
      <p:sp>
        <p:nvSpPr>
          <p:cNvPr id="176" name="Google Shape;176;p5"/>
          <p:cNvSpPr txBox="1"/>
          <p:nvPr/>
        </p:nvSpPr>
        <p:spPr>
          <a:xfrm>
            <a:off x="841247" y="2468879"/>
            <a:ext cx="313639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Agrupa registres en K grups segons la distància als centres. Eficient i fàcil de resumir.</a:t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4343400" y="1874519"/>
            <a:ext cx="3520440" cy="224028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4343400" y="1874519"/>
            <a:ext cx="73152" cy="2240280"/>
          </a:xfrm>
          <a:prstGeom prst="rect">
            <a:avLst/>
          </a:prstGeom>
          <a:solidFill>
            <a:srgbClr val="F4B74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 txBox="1"/>
          <p:nvPr/>
        </p:nvSpPr>
        <p:spPr>
          <a:xfrm>
            <a:off x="4544568" y="2039112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2 · Veïns propers</a:t>
            </a:r>
            <a:endParaRPr/>
          </a:p>
        </p:txBody>
      </p:sp>
      <p:sp>
        <p:nvSpPr>
          <p:cNvPr id="180" name="Google Shape;180;p5"/>
          <p:cNvSpPr txBox="1"/>
          <p:nvPr/>
        </p:nvSpPr>
        <p:spPr>
          <a:xfrm>
            <a:off x="4544568" y="2468879"/>
            <a:ext cx="313639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Mesura si un registre queda lluny dels seus veïns; útil per prioritzar possibles anomalies.</a:t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8046720" y="1874519"/>
            <a:ext cx="3520440" cy="224028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8046720" y="1874519"/>
            <a:ext cx="73152" cy="2240280"/>
          </a:xfrm>
          <a:prstGeom prst="rect">
            <a:avLst/>
          </a:prstGeom>
          <a:solidFill>
            <a:srgbClr val="DB4E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 txBox="1"/>
          <p:nvPr/>
        </p:nvSpPr>
        <p:spPr>
          <a:xfrm>
            <a:off x="8247888" y="2039112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3 · Alternatives</a:t>
            </a:r>
            <a:endParaRPr/>
          </a:p>
        </p:txBody>
      </p:sp>
      <p:sp>
        <p:nvSpPr>
          <p:cNvPr id="184" name="Google Shape;184;p5"/>
          <p:cNvSpPr txBox="1"/>
          <p:nvPr/>
        </p:nvSpPr>
        <p:spPr>
          <a:xfrm>
            <a:off x="8247888" y="2468879"/>
            <a:ext cx="313639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DBSCAN (grups per densitat), clustering jeràrquic o Isolation Forest per a anomalies.</a:t>
            </a:r>
            <a:endParaRPr/>
          </a:p>
        </p:txBody>
      </p:sp>
      <p:sp>
        <p:nvSpPr>
          <p:cNvPr id="185" name="Google Shape;185;p5"/>
          <p:cNvSpPr txBox="1"/>
          <p:nvPr/>
        </p:nvSpPr>
        <p:spPr>
          <a:xfrm>
            <a:off x="822960" y="4663440"/>
            <a:ext cx="105156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Per què aquesta combinació? </a:t>
            </a:r>
            <a:endParaRPr b="1" i="0" sz="1600" u="none" cap="none" strike="noStrike">
              <a:solidFill>
                <a:srgbClr val="111F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11F36"/>
                </a:solidFill>
              </a:rPr>
              <a:t>· </a:t>
            </a:r>
            <a:r>
              <a:rPr b="1" i="0" lang="en-US" sz="16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K-Means dona una visió global</a:t>
            </a:r>
            <a:endParaRPr b="1" sz="1600">
              <a:solidFill>
                <a:srgbClr val="111F3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11F36"/>
                </a:solidFill>
              </a:rPr>
              <a:t>· E</a:t>
            </a:r>
            <a:r>
              <a:rPr b="1" i="0" lang="en-US" sz="16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ls veïns propers afegeixen una mirada local als casos inusuals.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"/>
          <p:cNvSpPr txBox="1"/>
          <p:nvPr/>
        </p:nvSpPr>
        <p:spPr>
          <a:xfrm>
            <a:off x="566928" y="256032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A0A0"/>
                </a:solidFill>
                <a:latin typeface="Arial"/>
                <a:ea typeface="Arial"/>
                <a:cs typeface="Arial"/>
                <a:sym typeface="Arial"/>
              </a:rPr>
              <a:t>05 · METODOLOGIA</a:t>
            </a:r>
            <a:endParaRPr/>
          </a:p>
        </p:txBody>
      </p:sp>
      <p:sp>
        <p:nvSpPr>
          <p:cNvPr id="191" name="Google Shape;191;p6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Del CSV a la interpretació</a:t>
            </a:r>
            <a:endParaRPr/>
          </a:p>
        </p:txBody>
      </p:sp>
      <p:sp>
        <p:nvSpPr>
          <p:cNvPr id="192" name="Google Shape;192;p6"/>
          <p:cNvSpPr txBox="1"/>
          <p:nvPr/>
        </p:nvSpPr>
        <p:spPr>
          <a:xfrm>
            <a:off x="594360" y="1124712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Pipeline reproduïble implementat en Python.</a:t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594360" y="1572768"/>
            <a:ext cx="502920" cy="50292"/>
          </a:xfrm>
          <a:prstGeom prst="rect">
            <a:avLst/>
          </a:prstGeom>
          <a:solidFill>
            <a:srgbClr val="1EA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594360" y="2423160"/>
            <a:ext cx="1664208" cy="18288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 txBox="1"/>
          <p:nvPr/>
        </p:nvSpPr>
        <p:spPr>
          <a:xfrm>
            <a:off x="704088" y="2578608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A0A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97" name="Google Shape;197;p6"/>
          <p:cNvSpPr txBox="1"/>
          <p:nvPr/>
        </p:nvSpPr>
        <p:spPr>
          <a:xfrm>
            <a:off x="685800" y="2971800"/>
            <a:ext cx="14813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Carregar</a:t>
            </a:r>
            <a:endParaRPr/>
          </a:p>
        </p:txBody>
      </p:sp>
      <p:sp>
        <p:nvSpPr>
          <p:cNvPr id="198" name="Google Shape;198;p6"/>
          <p:cNvSpPr txBox="1"/>
          <p:nvPr/>
        </p:nvSpPr>
        <p:spPr>
          <a:xfrm>
            <a:off x="704088" y="3456432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pandas · llegir CSV</a:t>
            </a:r>
            <a:endParaRPr/>
          </a:p>
        </p:txBody>
      </p:sp>
      <p:sp>
        <p:nvSpPr>
          <p:cNvPr id="199" name="Google Shape;199;p6"/>
          <p:cNvSpPr txBox="1"/>
          <p:nvPr/>
        </p:nvSpPr>
        <p:spPr>
          <a:xfrm>
            <a:off x="2258568" y="3017520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4B74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2514600" y="2423160"/>
            <a:ext cx="1664208" cy="18288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2624328" y="2578608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A0A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02" name="Google Shape;202;p6"/>
          <p:cNvSpPr txBox="1"/>
          <p:nvPr/>
        </p:nvSpPr>
        <p:spPr>
          <a:xfrm>
            <a:off x="2606040" y="2971800"/>
            <a:ext cx="14813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Netejar</a:t>
            </a:r>
            <a:endParaRPr/>
          </a:p>
        </p:txBody>
      </p:sp>
      <p:sp>
        <p:nvSpPr>
          <p:cNvPr id="203" name="Google Shape;203;p6"/>
          <p:cNvSpPr txBox="1"/>
          <p:nvPr/>
        </p:nvSpPr>
        <p:spPr>
          <a:xfrm>
            <a:off x="2624328" y="3456432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eliminar NaN</a:t>
            </a:r>
            <a:endParaRPr/>
          </a:p>
        </p:txBody>
      </p:sp>
      <p:sp>
        <p:nvSpPr>
          <p:cNvPr id="204" name="Google Shape;204;p6"/>
          <p:cNvSpPr txBox="1"/>
          <p:nvPr/>
        </p:nvSpPr>
        <p:spPr>
          <a:xfrm>
            <a:off x="4178808" y="3017520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4B74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4434840" y="2423160"/>
            <a:ext cx="1664208" cy="18288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 txBox="1"/>
          <p:nvPr/>
        </p:nvSpPr>
        <p:spPr>
          <a:xfrm>
            <a:off x="4544568" y="2578608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A0A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07" name="Google Shape;207;p6"/>
          <p:cNvSpPr txBox="1"/>
          <p:nvPr/>
        </p:nvSpPr>
        <p:spPr>
          <a:xfrm>
            <a:off x="4526280" y="2971800"/>
            <a:ext cx="14813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Escalar</a:t>
            </a:r>
            <a:endParaRPr/>
          </a:p>
        </p:txBody>
      </p:sp>
      <p:sp>
        <p:nvSpPr>
          <p:cNvPr id="208" name="Google Shape;208;p6"/>
          <p:cNvSpPr txBox="1"/>
          <p:nvPr/>
        </p:nvSpPr>
        <p:spPr>
          <a:xfrm>
            <a:off x="4544568" y="3456432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Z-score</a:t>
            </a:r>
            <a:endParaRPr/>
          </a:p>
        </p:txBody>
      </p:sp>
      <p:sp>
        <p:nvSpPr>
          <p:cNvPr id="209" name="Google Shape;209;p6"/>
          <p:cNvSpPr txBox="1"/>
          <p:nvPr/>
        </p:nvSpPr>
        <p:spPr>
          <a:xfrm>
            <a:off x="6099048" y="3017520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4B74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6355080" y="2423160"/>
            <a:ext cx="1664208" cy="18288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 txBox="1"/>
          <p:nvPr/>
        </p:nvSpPr>
        <p:spPr>
          <a:xfrm>
            <a:off x="6464808" y="2578608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A0A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12" name="Google Shape;212;p6"/>
          <p:cNvSpPr txBox="1"/>
          <p:nvPr/>
        </p:nvSpPr>
        <p:spPr>
          <a:xfrm>
            <a:off x="6446520" y="2971800"/>
            <a:ext cx="14813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Agrupar</a:t>
            </a:r>
            <a:endParaRPr/>
          </a:p>
        </p:txBody>
      </p:sp>
      <p:sp>
        <p:nvSpPr>
          <p:cNvPr id="213" name="Google Shape;213;p6"/>
          <p:cNvSpPr txBox="1"/>
          <p:nvPr/>
        </p:nvSpPr>
        <p:spPr>
          <a:xfrm>
            <a:off x="6464808" y="3456432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K-Means · K=3</a:t>
            </a:r>
            <a:endParaRPr/>
          </a:p>
        </p:txBody>
      </p:sp>
      <p:sp>
        <p:nvSpPr>
          <p:cNvPr id="214" name="Google Shape;214;p6"/>
          <p:cNvSpPr txBox="1"/>
          <p:nvPr/>
        </p:nvSpPr>
        <p:spPr>
          <a:xfrm>
            <a:off x="8019288" y="3017520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4B74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8275320" y="2423160"/>
            <a:ext cx="1664208" cy="18288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8385048" y="2578608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A0A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217" name="Google Shape;217;p6"/>
          <p:cNvSpPr txBox="1"/>
          <p:nvPr/>
        </p:nvSpPr>
        <p:spPr>
          <a:xfrm>
            <a:off x="8366760" y="2971800"/>
            <a:ext cx="14813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Validar</a:t>
            </a:r>
            <a:endParaRPr/>
          </a:p>
        </p:txBody>
      </p:sp>
      <p:sp>
        <p:nvSpPr>
          <p:cNvPr id="218" name="Google Shape;218;p6"/>
          <p:cNvSpPr txBox="1"/>
          <p:nvPr/>
        </p:nvSpPr>
        <p:spPr>
          <a:xfrm>
            <a:off x="8385048" y="3456432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silhouette · ARI</a:t>
            </a:r>
            <a:endParaRPr/>
          </a:p>
        </p:txBody>
      </p:sp>
      <p:sp>
        <p:nvSpPr>
          <p:cNvPr id="219" name="Google Shape;219;p6"/>
          <p:cNvSpPr txBox="1"/>
          <p:nvPr/>
        </p:nvSpPr>
        <p:spPr>
          <a:xfrm>
            <a:off x="9939528" y="3017520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4B74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10195560" y="2423160"/>
            <a:ext cx="1664208" cy="18288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 txBox="1"/>
          <p:nvPr/>
        </p:nvSpPr>
        <p:spPr>
          <a:xfrm>
            <a:off x="10305288" y="2578608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A0A0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222" name="Google Shape;222;p6"/>
          <p:cNvSpPr txBox="1"/>
          <p:nvPr/>
        </p:nvSpPr>
        <p:spPr>
          <a:xfrm>
            <a:off x="10287000" y="2971800"/>
            <a:ext cx="14813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Explorar</a:t>
            </a:r>
            <a:endParaRPr/>
          </a:p>
        </p:txBody>
      </p:sp>
      <p:sp>
        <p:nvSpPr>
          <p:cNvPr id="223" name="Google Shape;223;p6"/>
          <p:cNvSpPr txBox="1"/>
          <p:nvPr/>
        </p:nvSpPr>
        <p:spPr>
          <a:xfrm>
            <a:off x="10305288" y="3456432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veïns · gràfics</a:t>
            </a:r>
            <a:endParaRPr/>
          </a:p>
        </p:txBody>
      </p:sp>
      <p:sp>
        <p:nvSpPr>
          <p:cNvPr id="224" name="Google Shape;224;p6"/>
          <p:cNvSpPr txBox="1"/>
          <p:nvPr/>
        </p:nvSpPr>
        <p:spPr>
          <a:xfrm>
            <a:off x="822960" y="4892040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La normalització és clau perquè magnitud, profunditat i coordenades tenen escales molt diferents.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"/>
          <p:cNvSpPr txBox="1"/>
          <p:nvPr/>
        </p:nvSpPr>
        <p:spPr>
          <a:xfrm>
            <a:off x="566928" y="256032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A0A0"/>
                </a:solidFill>
                <a:latin typeface="Arial"/>
                <a:ea typeface="Arial"/>
                <a:cs typeface="Arial"/>
                <a:sym typeface="Arial"/>
              </a:rPr>
              <a:t>06 · PREPARACIÓ</a:t>
            </a:r>
            <a:endParaRPr/>
          </a:p>
        </p:txBody>
      </p:sp>
      <p:sp>
        <p:nvSpPr>
          <p:cNvPr id="230" name="Google Shape;230;p7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Per què normalitzem amb Z-score?</a:t>
            </a:r>
            <a:endParaRPr/>
          </a:p>
        </p:txBody>
      </p:sp>
      <p:sp>
        <p:nvSpPr>
          <p:cNvPr id="231" name="Google Shape;231;p7"/>
          <p:cNvSpPr txBox="1"/>
          <p:nvPr/>
        </p:nvSpPr>
        <p:spPr>
          <a:xfrm>
            <a:off x="594360" y="1124712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Per evitar que una variable domini les distàncies només perquè té valors numèrics més grans.</a:t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594360" y="1572768"/>
            <a:ext cx="502920" cy="50292"/>
          </a:xfrm>
          <a:prstGeom prst="rect">
            <a:avLst/>
          </a:prstGeom>
          <a:solidFill>
            <a:srgbClr val="1EA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234" name="Google Shape;234;p7"/>
          <p:cNvSpPr txBox="1"/>
          <p:nvPr/>
        </p:nvSpPr>
        <p:spPr>
          <a:xfrm>
            <a:off x="868680" y="2011680"/>
            <a:ext cx="4663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z = (x − mitjana) / desviació estàndard</a:t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777240" y="3063240"/>
            <a:ext cx="3291840" cy="16002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777240" y="3063240"/>
            <a:ext cx="73152" cy="1600200"/>
          </a:xfrm>
          <a:prstGeom prst="rect">
            <a:avLst/>
          </a:prstGeom>
          <a:solidFill>
            <a:srgbClr val="F4B74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 txBox="1"/>
          <p:nvPr/>
        </p:nvSpPr>
        <p:spPr>
          <a:xfrm>
            <a:off x="978408" y="3227832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Abans</a:t>
            </a:r>
            <a:endParaRPr/>
          </a:p>
        </p:txBody>
      </p:sp>
      <p:sp>
        <p:nvSpPr>
          <p:cNvPr id="238" name="Google Shape;238;p7"/>
          <p:cNvSpPr txBox="1"/>
          <p:nvPr/>
        </p:nvSpPr>
        <p:spPr>
          <a:xfrm>
            <a:off x="978408" y="3657600"/>
            <a:ext cx="29077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Profunditat pot arribar a centenars de km; magnitud acostuma a tenir una escala molt menor.</a:t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4434840" y="3063240"/>
            <a:ext cx="3291840" cy="16002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4434840" y="3063240"/>
            <a:ext cx="73152" cy="1600200"/>
          </a:xfrm>
          <a:prstGeom prst="rect">
            <a:avLst/>
          </a:prstGeom>
          <a:solidFill>
            <a:srgbClr val="1EA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 txBox="1"/>
          <p:nvPr/>
        </p:nvSpPr>
        <p:spPr>
          <a:xfrm>
            <a:off x="4636007" y="3227832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Després</a:t>
            </a:r>
            <a:endParaRPr/>
          </a:p>
        </p:txBody>
      </p:sp>
      <p:sp>
        <p:nvSpPr>
          <p:cNvPr id="242" name="Google Shape;242;p7"/>
          <p:cNvSpPr txBox="1"/>
          <p:nvPr/>
        </p:nvSpPr>
        <p:spPr>
          <a:xfrm>
            <a:off x="4636007" y="3657600"/>
            <a:ext cx="29077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Cada variable queda expressada en unitats de desviació estàndard respecte de la seva mitjana.</a:t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8092440" y="3063240"/>
            <a:ext cx="3291840" cy="16002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8092440" y="3063240"/>
            <a:ext cx="73152" cy="1600200"/>
          </a:xfrm>
          <a:prstGeom prst="rect">
            <a:avLst/>
          </a:prstGeom>
          <a:solidFill>
            <a:srgbClr val="DB4E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 txBox="1"/>
          <p:nvPr/>
        </p:nvSpPr>
        <p:spPr>
          <a:xfrm>
            <a:off x="8293608" y="3227832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Conseqüència</a:t>
            </a:r>
            <a:endParaRPr/>
          </a:p>
        </p:txBody>
      </p:sp>
      <p:sp>
        <p:nvSpPr>
          <p:cNvPr id="246" name="Google Shape;246;p7"/>
          <p:cNvSpPr txBox="1"/>
          <p:nvPr/>
        </p:nvSpPr>
        <p:spPr>
          <a:xfrm>
            <a:off x="8293608" y="3657600"/>
            <a:ext cx="29077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Les quatre variables contribueixen a les distàncies d’una manera més comparable.</a:t>
            </a:r>
            <a:endParaRPr/>
          </a:p>
        </p:txBody>
      </p:sp>
      <p:sp>
        <p:nvSpPr>
          <p:cNvPr id="247" name="Google Shape;247;p7"/>
          <p:cNvSpPr txBox="1"/>
          <p:nvPr/>
        </p:nvSpPr>
        <p:spPr>
          <a:xfrm>
            <a:off x="914400" y="521208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Nota metodològica: les coordenades s’escalen com a variables numèriques; això no equival a una distància geodèsica sobre l’esfera terrestre.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8"/>
          <p:cNvSpPr txBox="1"/>
          <p:nvPr/>
        </p:nvSpPr>
        <p:spPr>
          <a:xfrm>
            <a:off x="566928" y="256032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A0A0"/>
                </a:solidFill>
                <a:latin typeface="Arial"/>
                <a:ea typeface="Arial"/>
                <a:cs typeface="Arial"/>
                <a:sym typeface="Arial"/>
              </a:rPr>
              <a:t>07 · MODEL</a:t>
            </a:r>
            <a:endParaRPr/>
          </a:p>
        </p:txBody>
      </p:sp>
      <p:sp>
        <p:nvSpPr>
          <p:cNvPr id="253" name="Google Shape;253;p8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Què fa K-Means?</a:t>
            </a:r>
            <a:endParaRPr/>
          </a:p>
        </p:txBody>
      </p:sp>
      <p:sp>
        <p:nvSpPr>
          <p:cNvPr id="254" name="Google Shape;254;p8"/>
          <p:cNvSpPr txBox="1"/>
          <p:nvPr/>
        </p:nvSpPr>
        <p:spPr>
          <a:xfrm>
            <a:off x="594360" y="1124712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El model assigna cada observació al centre més proper i recalcula els centres iterativament.</a:t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594360" y="1572768"/>
            <a:ext cx="502920" cy="50292"/>
          </a:xfrm>
          <a:prstGeom prst="rect">
            <a:avLst/>
          </a:prstGeom>
          <a:solidFill>
            <a:srgbClr val="1EA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731520" y="1874519"/>
            <a:ext cx="3383280" cy="192024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731520" y="1874519"/>
            <a:ext cx="73152" cy="1920240"/>
          </a:xfrm>
          <a:prstGeom prst="rect">
            <a:avLst/>
          </a:prstGeom>
          <a:solidFill>
            <a:srgbClr val="1EA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 txBox="1"/>
          <p:nvPr/>
        </p:nvSpPr>
        <p:spPr>
          <a:xfrm>
            <a:off x="932688" y="2039112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Inicialitzar</a:t>
            </a:r>
            <a:endParaRPr/>
          </a:p>
        </p:txBody>
      </p:sp>
      <p:sp>
        <p:nvSpPr>
          <p:cNvPr id="260" name="Google Shape;260;p8"/>
          <p:cNvSpPr txBox="1"/>
          <p:nvPr/>
        </p:nvSpPr>
        <p:spPr>
          <a:xfrm>
            <a:off x="932688" y="2468879"/>
            <a:ext cx="299923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Escollir K centres inicials.</a:t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4389120" y="1874519"/>
            <a:ext cx="3383280" cy="192024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4389120" y="1874519"/>
            <a:ext cx="73152" cy="1920240"/>
          </a:xfrm>
          <a:prstGeom prst="rect">
            <a:avLst/>
          </a:prstGeom>
          <a:solidFill>
            <a:srgbClr val="F4B74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 txBox="1"/>
          <p:nvPr/>
        </p:nvSpPr>
        <p:spPr>
          <a:xfrm>
            <a:off x="4590288" y="2039112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Assignar</a:t>
            </a:r>
            <a:endParaRPr/>
          </a:p>
        </p:txBody>
      </p:sp>
      <p:sp>
        <p:nvSpPr>
          <p:cNvPr id="264" name="Google Shape;264;p8"/>
          <p:cNvSpPr txBox="1"/>
          <p:nvPr/>
        </p:nvSpPr>
        <p:spPr>
          <a:xfrm>
            <a:off x="4590288" y="2468879"/>
            <a:ext cx="299923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Cada terratrèmol va al centre més proper en l’espai normalitzat.</a:t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8046720" y="1874519"/>
            <a:ext cx="3383280" cy="192024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8046720" y="1874519"/>
            <a:ext cx="73152" cy="1920240"/>
          </a:xfrm>
          <a:prstGeom prst="rect">
            <a:avLst/>
          </a:prstGeom>
          <a:solidFill>
            <a:srgbClr val="DB4E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 txBox="1"/>
          <p:nvPr/>
        </p:nvSpPr>
        <p:spPr>
          <a:xfrm>
            <a:off x="8247888" y="2039112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Actualitzar</a:t>
            </a:r>
            <a:endParaRPr/>
          </a:p>
        </p:txBody>
      </p:sp>
      <p:sp>
        <p:nvSpPr>
          <p:cNvPr id="268" name="Google Shape;268;p8"/>
          <p:cNvSpPr txBox="1"/>
          <p:nvPr/>
        </p:nvSpPr>
        <p:spPr>
          <a:xfrm>
            <a:off x="8247888" y="2468879"/>
            <a:ext cx="299923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Recalcular els centres i repetir fins a convergir.</a:t>
            </a:r>
            <a:endParaRPr/>
          </a:p>
        </p:txBody>
      </p:sp>
      <p:sp>
        <p:nvSpPr>
          <p:cNvPr id="269" name="Google Shape;269;p8"/>
          <p:cNvSpPr txBox="1"/>
          <p:nvPr/>
        </p:nvSpPr>
        <p:spPr>
          <a:xfrm>
            <a:off x="822960" y="4434840"/>
            <a:ext cx="10424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Configuració del codi: KMeans(n_clusters=3, random_state=42, n_init=10). La llavor fixa i les 10 inicialitzacions ajuden a fer el resultat reproduïble i a reduir dependència d’una única inicialització.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"/>
          <p:cNvSpPr txBox="1"/>
          <p:nvPr/>
        </p:nvSpPr>
        <p:spPr>
          <a:xfrm>
            <a:off x="566928" y="256032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A0A0"/>
                </a:solidFill>
                <a:latin typeface="Arial"/>
                <a:ea typeface="Arial"/>
                <a:cs typeface="Arial"/>
                <a:sym typeface="Arial"/>
              </a:rPr>
              <a:t>08 · TRIA DE K</a:t>
            </a:r>
            <a:endParaRPr/>
          </a:p>
        </p:txBody>
      </p:sp>
      <p:sp>
        <p:nvSpPr>
          <p:cNvPr id="275" name="Google Shape;275;p9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Per què hem triat K = 3?</a:t>
            </a:r>
            <a:endParaRPr/>
          </a:p>
        </p:txBody>
      </p:sp>
      <p:sp>
        <p:nvSpPr>
          <p:cNvPr id="276" name="Google Shape;276;p9"/>
          <p:cNvSpPr txBox="1"/>
          <p:nvPr/>
        </p:nvSpPr>
        <p:spPr>
          <a:xfrm>
            <a:off x="594360" y="1124712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La tria és útil per comunicar una primera segmentació, però la validació no demostra que 3 sigui el valor òptim universal.</a:t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594360" y="1572768"/>
            <a:ext cx="502920" cy="50292"/>
          </a:xfrm>
          <a:prstGeom prst="rect">
            <a:avLst/>
          </a:prstGeom>
          <a:solidFill>
            <a:srgbClr val="1EA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pic>
        <p:nvPicPr>
          <p:cNvPr descr="validacio_k.png" id="279" name="Google Shape;27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828800"/>
            <a:ext cx="640080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9"/>
          <p:cNvSpPr txBox="1"/>
          <p:nvPr/>
        </p:nvSpPr>
        <p:spPr>
          <a:xfrm>
            <a:off x="7223760" y="1874519"/>
            <a:ext cx="42976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•  K=3 és una solució intermèdia, fàcil de visualitzar i interpretar.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•  La inèrcia disminueix quan K augmenta: per si sola no decideix el millor K.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•  Silhouette més alta entre K=2…8: K=2 (0,640); K=5 és la més alta entre K=3…8 (0,427).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•  Per tant, K=3 és una decisió pràctica; cal comparar més opcions abans d’afirmar que és òptima.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0"/>
          <p:cNvSpPr txBox="1"/>
          <p:nvPr/>
        </p:nvSpPr>
        <p:spPr>
          <a:xfrm>
            <a:off x="566928" y="256032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A0A0"/>
                </a:solidFill>
                <a:latin typeface="Arial"/>
                <a:ea typeface="Arial"/>
                <a:cs typeface="Arial"/>
                <a:sym typeface="Arial"/>
              </a:rPr>
              <a:t>09 · VALIDACIÓ QUANTITATIVA</a:t>
            </a:r>
            <a:endParaRPr/>
          </a:p>
        </p:txBody>
      </p:sp>
      <p:sp>
        <p:nvSpPr>
          <p:cNvPr id="286" name="Google Shape;286;p10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Què ens diuen els indicadors?</a:t>
            </a:r>
            <a:endParaRPr/>
          </a:p>
        </p:txBody>
      </p:sp>
      <p:sp>
        <p:nvSpPr>
          <p:cNvPr id="287" name="Google Shape;287;p10"/>
          <p:cNvSpPr txBox="1"/>
          <p:nvPr/>
        </p:nvSpPr>
        <p:spPr>
          <a:xfrm>
            <a:off x="594360" y="1124712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Resultats reproduïts amb random_state=42, n_init=10 i silhouette calculada sobre una mostra de fins a 2.000 punts.</a:t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594360" y="1572768"/>
            <a:ext cx="502920" cy="50292"/>
          </a:xfrm>
          <a:prstGeom prst="rect">
            <a:avLst/>
          </a:prstGeom>
          <a:solidFill>
            <a:srgbClr val="1EA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graphicFrame>
        <p:nvGraphicFramePr>
          <p:cNvPr id="290" name="Google Shape;290;p10"/>
          <p:cNvGraphicFramePr/>
          <p:nvPr/>
        </p:nvGraphicFramePr>
        <p:xfrm>
          <a:off x="822960" y="18745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{3BFF8601-3F7B-4A68-B281-4DFAFF97BAD5}</a:tableStyleId>
              </a:tblPr>
              <a:tblGrid>
                <a:gridCol w="914400"/>
                <a:gridCol w="2057400"/>
                <a:gridCol w="1874525"/>
              </a:tblGrid>
              <a:tr h="52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Inèrcia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Silhouette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111F36"/>
                    </a:solidFill>
                  </a:tcPr>
                </a:tc>
              </a:tr>
              <a:tr h="52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24.346.2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0.640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</a:tr>
              <a:tr h="52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E7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19.486.7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E7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0.411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E7EFF5"/>
                    </a:solidFill>
                  </a:tcPr>
                </a:tc>
              </a:tr>
              <a:tr h="52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14.658.7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0.417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</a:tr>
              <a:tr h="52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E7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12.255.6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E7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0.427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E7EFF5"/>
                    </a:solidFill>
                  </a:tcPr>
                </a:tc>
              </a:tr>
              <a:tr h="52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10.184.1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0.334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</a:tr>
              <a:tr h="52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E7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8.780.0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E7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0.358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E7EFF5"/>
                    </a:solidFill>
                  </a:tcPr>
                </a:tc>
              </a:tr>
              <a:tr h="52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7.622.5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0.358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91" name="Google Shape;291;p10"/>
          <p:cNvSpPr/>
          <p:nvPr/>
        </p:nvSpPr>
        <p:spPr>
          <a:xfrm>
            <a:off x="6080760" y="1965960"/>
            <a:ext cx="5166360" cy="132588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6080760" y="1965960"/>
            <a:ext cx="73152" cy="1325880"/>
          </a:xfrm>
          <a:prstGeom prst="rect">
            <a:avLst/>
          </a:prstGeom>
          <a:solidFill>
            <a:srgbClr val="1EA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 txBox="1"/>
          <p:nvPr/>
        </p:nvSpPr>
        <p:spPr>
          <a:xfrm>
            <a:off x="6281928" y="2130552"/>
            <a:ext cx="4800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Inèrcia</a:t>
            </a:r>
            <a:endParaRPr/>
          </a:p>
        </p:txBody>
      </p:sp>
      <p:sp>
        <p:nvSpPr>
          <p:cNvPr id="294" name="Google Shape;294;p10"/>
          <p:cNvSpPr txBox="1"/>
          <p:nvPr/>
        </p:nvSpPr>
        <p:spPr>
          <a:xfrm>
            <a:off x="6281928" y="2560320"/>
            <a:ext cx="478231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Suma de distàncies quadràtiques als centres; baixa quan augmenta K.</a:t>
            </a: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6080760" y="3566160"/>
            <a:ext cx="5166360" cy="132588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6080760" y="3566160"/>
            <a:ext cx="73152" cy="1325880"/>
          </a:xfrm>
          <a:prstGeom prst="rect">
            <a:avLst/>
          </a:prstGeom>
          <a:solidFill>
            <a:srgbClr val="F4B74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 txBox="1"/>
          <p:nvPr/>
        </p:nvSpPr>
        <p:spPr>
          <a:xfrm>
            <a:off x="6281928" y="3730752"/>
            <a:ext cx="4800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Silhouette</a:t>
            </a:r>
            <a:endParaRPr/>
          </a:p>
        </p:txBody>
      </p:sp>
      <p:sp>
        <p:nvSpPr>
          <p:cNvPr id="298" name="Google Shape;298;p10"/>
          <p:cNvSpPr txBox="1"/>
          <p:nvPr/>
        </p:nvSpPr>
        <p:spPr>
          <a:xfrm>
            <a:off x="6281928" y="4160520"/>
            <a:ext cx="478231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Compara cohesió interna i separació entre grups; valors més alts solen ser preferibles.</a:t>
            </a:r>
            <a:endParaRPr/>
          </a:p>
        </p:txBody>
      </p:sp>
      <p:sp>
        <p:nvSpPr>
          <p:cNvPr id="299" name="Google Shape;299;p10"/>
          <p:cNvSpPr txBox="1"/>
          <p:nvPr/>
        </p:nvSpPr>
        <p:spPr>
          <a:xfrm>
            <a:off x="6217920" y="5257800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B4E4E"/>
                </a:solidFill>
                <a:latin typeface="Arial"/>
                <a:ea typeface="Arial"/>
                <a:cs typeface="Arial"/>
                <a:sym typeface="Arial"/>
              </a:rPr>
              <a:t>Lectura honesta: les mètriques no justifiquen presentar K=3 com el millor en tots els criteris.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1"/>
          <p:cNvSpPr txBox="1"/>
          <p:nvPr/>
        </p:nvSpPr>
        <p:spPr>
          <a:xfrm>
            <a:off x="566928" y="256032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A0A0"/>
                </a:solidFill>
                <a:latin typeface="Arial"/>
                <a:ea typeface="Arial"/>
                <a:cs typeface="Arial"/>
                <a:sym typeface="Arial"/>
              </a:rPr>
              <a:t>10 · VALIDACIÓ D’ESTABILITAT</a:t>
            </a:r>
            <a:endParaRPr/>
          </a:p>
        </p:txBody>
      </p:sp>
      <p:sp>
        <p:nvSpPr>
          <p:cNvPr id="305" name="Google Shape;305;p11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El resultat es manté si canviem la llavor?</a:t>
            </a:r>
            <a:endParaRPr/>
          </a:p>
        </p:txBody>
      </p:sp>
      <p:sp>
        <p:nvSpPr>
          <p:cNvPr id="306" name="Google Shape;306;p11"/>
          <p:cNvSpPr txBox="1"/>
          <p:nvPr/>
        </p:nvSpPr>
        <p:spPr>
          <a:xfrm>
            <a:off x="594360" y="1124712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Es compara la partició de K=3 amb la solució de referència (seed=42) mitjançant ARI.</a:t>
            </a: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594360" y="1572768"/>
            <a:ext cx="502920" cy="50292"/>
          </a:xfrm>
          <a:prstGeom prst="rect">
            <a:avLst/>
          </a:prstGeom>
          <a:solidFill>
            <a:srgbClr val="1EA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graphicFrame>
        <p:nvGraphicFramePr>
          <p:cNvPr id="309" name="Google Shape;309;p11"/>
          <p:cNvGraphicFramePr/>
          <p:nvPr/>
        </p:nvGraphicFramePr>
        <p:xfrm>
          <a:off x="822960" y="19659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{3BFF8601-3F7B-4A68-B281-4DFAFF97BAD5}</a:tableStyleId>
              </a:tblPr>
              <a:tblGrid>
                <a:gridCol w="1188725"/>
                <a:gridCol w="2148850"/>
                <a:gridCol w="1783075"/>
              </a:tblGrid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Llavor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Inèrcia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ARI vs. seed 42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111F36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19.486.71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1.000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E7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19.486.70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E7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1.000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E7EFF5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19.486.71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1.000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E7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19.486.71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E7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1.000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E7EFF5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19.486.71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1.000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10" name="Google Shape;310;p11"/>
          <p:cNvSpPr/>
          <p:nvPr/>
        </p:nvSpPr>
        <p:spPr>
          <a:xfrm>
            <a:off x="6400800" y="2103120"/>
            <a:ext cx="4480560" cy="1371600"/>
          </a:xfrm>
          <a:prstGeom prst="roundRect">
            <a:avLst>
              <a:gd fmla="val 12000" name="adj"/>
            </a:avLst>
          </a:prstGeom>
          <a:solidFill>
            <a:srgbClr val="111F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 txBox="1"/>
          <p:nvPr/>
        </p:nvSpPr>
        <p:spPr>
          <a:xfrm>
            <a:off x="6583680" y="233172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66D3D0"/>
                </a:solidFill>
                <a:latin typeface="Arial"/>
                <a:ea typeface="Arial"/>
                <a:cs typeface="Arial"/>
                <a:sym typeface="Arial"/>
              </a:rPr>
              <a:t>ARI = 1,000</a:t>
            </a:r>
            <a:endParaRPr/>
          </a:p>
        </p:txBody>
      </p:sp>
      <p:sp>
        <p:nvSpPr>
          <p:cNvPr id="312" name="Google Shape;312;p11"/>
          <p:cNvSpPr txBox="1"/>
          <p:nvPr/>
        </p:nvSpPr>
        <p:spPr>
          <a:xfrm>
            <a:off x="6583680" y="28346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mateixa partició en aquestes proves</a:t>
            </a:r>
            <a:endParaRPr/>
          </a:p>
        </p:txBody>
      </p:sp>
      <p:sp>
        <p:nvSpPr>
          <p:cNvPr id="313" name="Google Shape;313;p11"/>
          <p:cNvSpPr txBox="1"/>
          <p:nvPr/>
        </p:nvSpPr>
        <p:spPr>
          <a:xfrm>
            <a:off x="6217920" y="3886200"/>
            <a:ext cx="5029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•  ARI (Adjusted Rand Index) compara si dos agrupaments coincideixen.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•  En les cinc llavors provades, la partició és idèntica a la base.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•  Això dona evidència d’estabilitat per a aquestes proves, no una garantia universal.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2"/>
          <p:cNvSpPr txBox="1"/>
          <p:nvPr/>
        </p:nvSpPr>
        <p:spPr>
          <a:xfrm>
            <a:off x="566928" y="256032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A0A0"/>
                </a:solidFill>
                <a:latin typeface="Arial"/>
                <a:ea typeface="Arial"/>
                <a:cs typeface="Arial"/>
                <a:sym typeface="Arial"/>
              </a:rPr>
              <a:t>11 · RESULTATS</a:t>
            </a:r>
            <a:endParaRPr/>
          </a:p>
        </p:txBody>
      </p:sp>
      <p:sp>
        <p:nvSpPr>
          <p:cNvPr id="319" name="Google Shape;319;p1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Tres grups amb perfils diferents</a:t>
            </a:r>
            <a:endParaRPr/>
          </a:p>
        </p:txBody>
      </p:sp>
      <p:sp>
        <p:nvSpPr>
          <p:cNvPr id="320" name="Google Shape;320;p12"/>
          <p:cNvSpPr txBox="1"/>
          <p:nvPr/>
        </p:nvSpPr>
        <p:spPr>
          <a:xfrm>
            <a:off x="594360" y="1124712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Mitjanes calculades sobre les dades originals; els números de clúster són etiquetes arbitràries, no categories naturals.</a:t>
            </a:r>
            <a:endParaRPr/>
          </a:p>
        </p:txBody>
      </p:sp>
      <p:sp>
        <p:nvSpPr>
          <p:cNvPr id="321" name="Google Shape;321;p12"/>
          <p:cNvSpPr/>
          <p:nvPr/>
        </p:nvSpPr>
        <p:spPr>
          <a:xfrm>
            <a:off x="594360" y="1572768"/>
            <a:ext cx="502920" cy="50292"/>
          </a:xfrm>
          <a:prstGeom prst="rect">
            <a:avLst/>
          </a:prstGeom>
          <a:solidFill>
            <a:srgbClr val="1EA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pic>
        <p:nvPicPr>
          <p:cNvPr descr="comptes.png" id="323" name="Google Shape;32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828800"/>
            <a:ext cx="4754880" cy="3200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4" name="Google Shape;324;p12"/>
          <p:cNvGraphicFramePr/>
          <p:nvPr/>
        </p:nvGraphicFramePr>
        <p:xfrm>
          <a:off x="5623560" y="2011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{3BFF8601-3F7B-4A68-B281-4DFAFF97BAD5}</a:tableStyleId>
              </a:tblPr>
              <a:tblGrid>
                <a:gridCol w="1143000"/>
                <a:gridCol w="1005850"/>
                <a:gridCol w="1828800"/>
                <a:gridCol w="1783075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Clúster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Magnitud mitjana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Profunditat mitjana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111F36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3.414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1.52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33.0 km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E7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5.721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E7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1.31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E7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7.7 km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E7EFF5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1.039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4.50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73.0 km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25" name="Google Shape;325;p12"/>
          <p:cNvSpPr txBox="1"/>
          <p:nvPr/>
        </p:nvSpPr>
        <p:spPr>
          <a:xfrm>
            <a:off x="5715000" y="4892040"/>
            <a:ext cx="5486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Lectura exploratòria: el clúster 2 concentra registres amb magnitud mitjana més alta i profunditat mitjana més gran. Cal estudiar-ne la composició abans d’atribuir-hi una explicació geològica.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3"/>
          <p:cNvSpPr txBox="1"/>
          <p:nvPr/>
        </p:nvSpPr>
        <p:spPr>
          <a:xfrm>
            <a:off x="566928" y="256032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A0A0"/>
                </a:solidFill>
                <a:latin typeface="Arial"/>
                <a:ea typeface="Arial"/>
                <a:cs typeface="Arial"/>
                <a:sym typeface="Arial"/>
              </a:rPr>
              <a:t>12 · RESULTAT VISUAL</a:t>
            </a:r>
            <a:endParaRPr/>
          </a:p>
        </p:txBody>
      </p:sp>
      <p:sp>
        <p:nvSpPr>
          <p:cNvPr id="331" name="Google Shape;331;p1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On apareixen els clústers?</a:t>
            </a:r>
            <a:endParaRPr/>
          </a:p>
        </p:txBody>
      </p:sp>
      <p:sp>
        <p:nvSpPr>
          <p:cNvPr id="332" name="Google Shape;332;p13"/>
          <p:cNvSpPr txBox="1"/>
          <p:nvPr/>
        </p:nvSpPr>
        <p:spPr>
          <a:xfrm>
            <a:off x="594360" y="1124712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Mapa de longitud i latitud: cada punt és un registre; el color representa el clúster assignat.</a:t>
            </a:r>
            <a:endParaRPr/>
          </a:p>
        </p:txBody>
      </p:sp>
      <p:sp>
        <p:nvSpPr>
          <p:cNvPr id="333" name="Google Shape;333;p13"/>
          <p:cNvSpPr/>
          <p:nvPr/>
        </p:nvSpPr>
        <p:spPr>
          <a:xfrm>
            <a:off x="594360" y="1572768"/>
            <a:ext cx="502920" cy="50292"/>
          </a:xfrm>
          <a:prstGeom prst="rect">
            <a:avLst/>
          </a:prstGeom>
          <a:solidFill>
            <a:srgbClr val="1EA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pic>
        <p:nvPicPr>
          <p:cNvPr descr="mapa.png" id="335" name="Google Shape;33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783080"/>
            <a:ext cx="7406640" cy="420624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3"/>
          <p:cNvSpPr txBox="1"/>
          <p:nvPr/>
        </p:nvSpPr>
        <p:spPr>
          <a:xfrm>
            <a:off x="8229600" y="2240280"/>
            <a:ext cx="3200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•  La segmentació reflecteix patrons espacials i també magnitud/profunditat.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•  Les coordenades no s’han tractat com a distàncies geogràfiques esfèriques.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•  El mapa és exploratori: els límits de color no són fronteres tectòniques.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4"/>
          <p:cNvSpPr txBox="1"/>
          <p:nvPr/>
        </p:nvSpPr>
        <p:spPr>
          <a:xfrm>
            <a:off x="566928" y="256032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A0A0"/>
                </a:solidFill>
                <a:latin typeface="Arial"/>
                <a:ea typeface="Arial"/>
                <a:cs typeface="Arial"/>
                <a:sym typeface="Arial"/>
              </a:rPr>
              <a:t>13 · INTERPRETACIÓ</a:t>
            </a:r>
            <a:endParaRPr/>
          </a:p>
        </p:txBody>
      </p:sp>
      <p:sp>
        <p:nvSpPr>
          <p:cNvPr id="342" name="Google Shape;342;p14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Magnitud i profunditat no expliquen tot soles</a:t>
            </a:r>
            <a:endParaRPr/>
          </a:p>
        </p:txBody>
      </p:sp>
      <p:sp>
        <p:nvSpPr>
          <p:cNvPr id="343" name="Google Shape;343;p14"/>
          <p:cNvSpPr txBox="1"/>
          <p:nvPr/>
        </p:nvSpPr>
        <p:spPr>
          <a:xfrm>
            <a:off x="594360" y="1124712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Aquest gràfic ajuda a veure la dispersió i els solapaments entre grups.</a:t>
            </a:r>
            <a:endParaRPr/>
          </a:p>
        </p:txBody>
      </p:sp>
      <p:sp>
        <p:nvSpPr>
          <p:cNvPr id="344" name="Google Shape;344;p14"/>
          <p:cNvSpPr/>
          <p:nvPr/>
        </p:nvSpPr>
        <p:spPr>
          <a:xfrm>
            <a:off x="594360" y="1572768"/>
            <a:ext cx="502920" cy="50292"/>
          </a:xfrm>
          <a:prstGeom prst="rect">
            <a:avLst/>
          </a:prstGeom>
          <a:solidFill>
            <a:srgbClr val="1EA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pic>
        <p:nvPicPr>
          <p:cNvPr descr="magnitud_profunditat.png" id="346" name="Google Shape;34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828800"/>
            <a:ext cx="7132320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4"/>
          <p:cNvSpPr txBox="1"/>
          <p:nvPr/>
        </p:nvSpPr>
        <p:spPr>
          <a:xfrm>
            <a:off x="8001000" y="2148840"/>
            <a:ext cx="33832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•  Hi ha solapament entre clústers: cap grup s’ha d’interpretar com una classe sísmica oficial.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•  La profunditat té valors extrems que poden influir en el model.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•  Els resultats depenen de les variables, l’escala i K.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5"/>
          <p:cNvSpPr txBox="1"/>
          <p:nvPr/>
        </p:nvSpPr>
        <p:spPr>
          <a:xfrm>
            <a:off x="566928" y="256032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A0A0"/>
                </a:solidFill>
                <a:latin typeface="Arial"/>
                <a:ea typeface="Arial"/>
                <a:cs typeface="Arial"/>
                <a:sym typeface="Arial"/>
              </a:rPr>
              <a:t>14 · DETECCIÓ D’ANOMALIES</a:t>
            </a:r>
            <a:endParaRPr/>
          </a:p>
        </p:txBody>
      </p:sp>
      <p:sp>
        <p:nvSpPr>
          <p:cNvPr id="353" name="Google Shape;353;p15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Com identifiquem casos inusuals?</a:t>
            </a:r>
            <a:endParaRPr/>
          </a:p>
        </p:txBody>
      </p:sp>
      <p:sp>
        <p:nvSpPr>
          <p:cNvPr id="354" name="Google Shape;354;p15"/>
          <p:cNvSpPr txBox="1"/>
          <p:nvPr/>
        </p:nvSpPr>
        <p:spPr>
          <a:xfrm>
            <a:off x="594360" y="1124712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S’utilitza la distància mitjana als cinc veïns més propers en l’espai normalitzat.</a:t>
            </a:r>
            <a:endParaRPr/>
          </a:p>
        </p:txBody>
      </p:sp>
      <p:sp>
        <p:nvSpPr>
          <p:cNvPr id="355" name="Google Shape;355;p15"/>
          <p:cNvSpPr/>
          <p:nvPr/>
        </p:nvSpPr>
        <p:spPr>
          <a:xfrm>
            <a:off x="594360" y="1572768"/>
            <a:ext cx="502920" cy="50292"/>
          </a:xfrm>
          <a:prstGeom prst="rect">
            <a:avLst/>
          </a:prstGeom>
          <a:solidFill>
            <a:srgbClr val="1EA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357" name="Google Shape;357;p15"/>
          <p:cNvSpPr/>
          <p:nvPr/>
        </p:nvSpPr>
        <p:spPr>
          <a:xfrm>
            <a:off x="731520" y="1874519"/>
            <a:ext cx="3337560" cy="164592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731520" y="1874519"/>
            <a:ext cx="73152" cy="1645920"/>
          </a:xfrm>
          <a:prstGeom prst="rect">
            <a:avLst/>
          </a:prstGeom>
          <a:solidFill>
            <a:srgbClr val="1EA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 txBox="1"/>
          <p:nvPr/>
        </p:nvSpPr>
        <p:spPr>
          <a:xfrm>
            <a:off x="932688" y="2039112"/>
            <a:ext cx="2971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1 · Veïns</a:t>
            </a:r>
            <a:endParaRPr/>
          </a:p>
        </p:txBody>
      </p:sp>
      <p:sp>
        <p:nvSpPr>
          <p:cNvPr id="360" name="Google Shape;360;p15"/>
          <p:cNvSpPr txBox="1"/>
          <p:nvPr/>
        </p:nvSpPr>
        <p:spPr>
          <a:xfrm>
            <a:off x="932688" y="2468879"/>
            <a:ext cx="295351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NearestNeighbors(n_neighbors=6): el primer veí és el mateix punt i s’ignora.</a:t>
            </a:r>
            <a:endParaRPr/>
          </a:p>
        </p:txBody>
      </p:sp>
      <p:sp>
        <p:nvSpPr>
          <p:cNvPr id="361" name="Google Shape;361;p15"/>
          <p:cNvSpPr/>
          <p:nvPr/>
        </p:nvSpPr>
        <p:spPr>
          <a:xfrm>
            <a:off x="4434840" y="1874519"/>
            <a:ext cx="3337560" cy="164592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4434840" y="1874519"/>
            <a:ext cx="73152" cy="1645920"/>
          </a:xfrm>
          <a:prstGeom prst="rect">
            <a:avLst/>
          </a:prstGeom>
          <a:solidFill>
            <a:srgbClr val="F4B74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 txBox="1"/>
          <p:nvPr/>
        </p:nvSpPr>
        <p:spPr>
          <a:xfrm>
            <a:off x="4636007" y="2039112"/>
            <a:ext cx="2971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2 · Distància</a:t>
            </a:r>
            <a:endParaRPr/>
          </a:p>
        </p:txBody>
      </p:sp>
      <p:sp>
        <p:nvSpPr>
          <p:cNvPr id="364" name="Google Shape;364;p15"/>
          <p:cNvSpPr txBox="1"/>
          <p:nvPr/>
        </p:nvSpPr>
        <p:spPr>
          <a:xfrm>
            <a:off x="4636007" y="2468879"/>
            <a:ext cx="295351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Es calcula la mitjana de distància als altres cinc veïns.</a:t>
            </a:r>
            <a:endParaRPr/>
          </a:p>
        </p:txBody>
      </p:sp>
      <p:sp>
        <p:nvSpPr>
          <p:cNvPr id="365" name="Google Shape;365;p15"/>
          <p:cNvSpPr/>
          <p:nvPr/>
        </p:nvSpPr>
        <p:spPr>
          <a:xfrm>
            <a:off x="8138160" y="1874519"/>
            <a:ext cx="3337560" cy="164592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8138160" y="1874519"/>
            <a:ext cx="73152" cy="1645920"/>
          </a:xfrm>
          <a:prstGeom prst="rect">
            <a:avLst/>
          </a:prstGeom>
          <a:solidFill>
            <a:srgbClr val="DB4E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5"/>
          <p:cNvSpPr txBox="1"/>
          <p:nvPr/>
        </p:nvSpPr>
        <p:spPr>
          <a:xfrm>
            <a:off x="8339328" y="2039112"/>
            <a:ext cx="2971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3 · Rànquing</a:t>
            </a:r>
            <a:endParaRPr/>
          </a:p>
        </p:txBody>
      </p:sp>
      <p:sp>
        <p:nvSpPr>
          <p:cNvPr id="368" name="Google Shape;368;p15"/>
          <p:cNvSpPr txBox="1"/>
          <p:nvPr/>
        </p:nvSpPr>
        <p:spPr>
          <a:xfrm>
            <a:off x="8339328" y="2468879"/>
            <a:ext cx="295351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Els cinc valors més alts es mostren com a candidats anòmals.</a:t>
            </a:r>
            <a:endParaRPr/>
          </a:p>
        </p:txBody>
      </p:sp>
      <p:graphicFrame>
        <p:nvGraphicFramePr>
          <p:cNvPr id="369" name="Google Shape;369;p15"/>
          <p:cNvGraphicFramePr/>
          <p:nvPr/>
        </p:nvGraphicFramePr>
        <p:xfrm>
          <a:off x="822960" y="39776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{3BFF8601-3F7B-4A68-B281-4DFAFF97BAD5}</a:tableStyleId>
              </a:tblPr>
              <a:tblGrid>
                <a:gridCol w="548650"/>
                <a:gridCol w="6492250"/>
                <a:gridCol w="1463050"/>
                <a:gridCol w="2011675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Lloc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Magnitud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Prof. km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111F3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236 km ESE of Makarov, Russia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4.1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493.9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E7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Vanuatu region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E7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4.2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E7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665.1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E7EF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81 km NNW of Malfa, Italy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4.9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367.1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E7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43 km SSE of Otorohanga, New Ze…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E7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5.3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E7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286.0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E7EF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47 km SSE of Irpa Irpa, Bolivia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4.0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D2B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359.3</a:t>
                      </a:r>
                      <a:endParaRPr/>
                    </a:p>
                  </a:txBody>
                  <a:tcPr marT="36575" marB="36575" marR="54875" marL="7315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70" name="Google Shape;370;p15"/>
          <p:cNvSpPr txBox="1"/>
          <p:nvPr/>
        </p:nvSpPr>
        <p:spPr>
          <a:xfrm>
            <a:off x="868680" y="6172200"/>
            <a:ext cx="10332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B4E4E"/>
                </a:solidFill>
                <a:latin typeface="Arial"/>
                <a:ea typeface="Arial"/>
                <a:cs typeface="Arial"/>
                <a:sym typeface="Arial"/>
              </a:rPr>
              <a:t>Anomalia estadística ≠ error ni terratrèmol perillós: és un punt poc semblant als seus veïns segons les variables triades.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6"/>
          <p:cNvSpPr txBox="1"/>
          <p:nvPr/>
        </p:nvSpPr>
        <p:spPr>
          <a:xfrm>
            <a:off x="566928" y="256032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A0A0"/>
                </a:solidFill>
                <a:latin typeface="Arial"/>
                <a:ea typeface="Arial"/>
                <a:cs typeface="Arial"/>
                <a:sym typeface="Arial"/>
              </a:rPr>
              <a:t>15 · EXECUCIÓ DEL CODI</a:t>
            </a:r>
            <a:endParaRPr/>
          </a:p>
        </p:txBody>
      </p:sp>
      <p:sp>
        <p:nvSpPr>
          <p:cNvPr id="376" name="Google Shape;376;p16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Com reproduir l’anàlisi</a:t>
            </a:r>
            <a:endParaRPr/>
          </a:p>
        </p:txBody>
      </p:sp>
      <p:sp>
        <p:nvSpPr>
          <p:cNvPr id="377" name="Google Shape;377;p16"/>
          <p:cNvSpPr txBox="1"/>
          <p:nvPr/>
        </p:nvSpPr>
        <p:spPr>
          <a:xfrm>
            <a:off x="594360" y="1124712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Els dos scripts proporcionats separen l’anàlisi principal de la validació del model.</a:t>
            </a:r>
            <a:endParaRPr/>
          </a:p>
        </p:txBody>
      </p:sp>
      <p:sp>
        <p:nvSpPr>
          <p:cNvPr id="378" name="Google Shape;378;p16"/>
          <p:cNvSpPr/>
          <p:nvPr/>
        </p:nvSpPr>
        <p:spPr>
          <a:xfrm>
            <a:off x="594360" y="1572768"/>
            <a:ext cx="502920" cy="50292"/>
          </a:xfrm>
          <a:prstGeom prst="rect">
            <a:avLst/>
          </a:prstGeom>
          <a:solidFill>
            <a:srgbClr val="1EA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  <p:sp>
        <p:nvSpPr>
          <p:cNvPr id="380" name="Google Shape;380;p16"/>
          <p:cNvSpPr/>
          <p:nvPr/>
        </p:nvSpPr>
        <p:spPr>
          <a:xfrm>
            <a:off x="731520" y="1828800"/>
            <a:ext cx="5212080" cy="201168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6"/>
          <p:cNvSpPr/>
          <p:nvPr/>
        </p:nvSpPr>
        <p:spPr>
          <a:xfrm>
            <a:off x="731520" y="1828800"/>
            <a:ext cx="73152" cy="2011680"/>
          </a:xfrm>
          <a:prstGeom prst="rect">
            <a:avLst/>
          </a:prstGeom>
          <a:solidFill>
            <a:srgbClr val="1EA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6"/>
          <p:cNvSpPr txBox="1"/>
          <p:nvPr/>
        </p:nvSpPr>
        <p:spPr>
          <a:xfrm>
            <a:off x="932688" y="1993392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Script principal · presentation_matias_FINAL.py</a:t>
            </a:r>
            <a:endParaRPr/>
          </a:p>
        </p:txBody>
      </p:sp>
      <p:sp>
        <p:nvSpPr>
          <p:cNvPr id="383" name="Google Shape;383;p16"/>
          <p:cNvSpPr txBox="1"/>
          <p:nvPr/>
        </p:nvSpPr>
        <p:spPr>
          <a:xfrm>
            <a:off x="932688" y="2423160"/>
            <a:ext cx="4828032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1. Carrega i neteja earthquakes.csv</a:t>
            </a:r>
            <a:br>
              <a:rPr b="0" i="0" lang="en-US" sz="13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2. Normalitza les quatre variables</a:t>
            </a:r>
            <a:br>
              <a:rPr b="0" i="0" lang="en-US" sz="13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3. Ajusta K-Means amb K=3</a:t>
            </a:r>
            <a:br>
              <a:rPr b="0" i="0" lang="en-US" sz="13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4. Calcula distàncies als veïns i dibuixa el gràfic</a:t>
            </a:r>
            <a:endParaRPr/>
          </a:p>
        </p:txBody>
      </p:sp>
      <p:sp>
        <p:nvSpPr>
          <p:cNvPr id="384" name="Google Shape;384;p16"/>
          <p:cNvSpPr/>
          <p:nvPr/>
        </p:nvSpPr>
        <p:spPr>
          <a:xfrm>
            <a:off x="6217920" y="1828800"/>
            <a:ext cx="5212080" cy="201168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6"/>
          <p:cNvSpPr/>
          <p:nvPr/>
        </p:nvSpPr>
        <p:spPr>
          <a:xfrm>
            <a:off x="6217920" y="1828800"/>
            <a:ext cx="73152" cy="2011680"/>
          </a:xfrm>
          <a:prstGeom prst="rect">
            <a:avLst/>
          </a:prstGeom>
          <a:solidFill>
            <a:srgbClr val="F4B74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6"/>
          <p:cNvSpPr txBox="1"/>
          <p:nvPr/>
        </p:nvSpPr>
        <p:spPr>
          <a:xfrm>
            <a:off x="6419088" y="1993392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Script de validació · validacio_FINAL.py</a:t>
            </a:r>
            <a:endParaRPr/>
          </a:p>
        </p:txBody>
      </p:sp>
      <p:sp>
        <p:nvSpPr>
          <p:cNvPr id="387" name="Google Shape;387;p16"/>
          <p:cNvSpPr txBox="1"/>
          <p:nvPr/>
        </p:nvSpPr>
        <p:spPr>
          <a:xfrm>
            <a:off x="6419088" y="2423160"/>
            <a:ext cx="4828032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1. Prova K=2…8</a:t>
            </a:r>
            <a:br>
              <a:rPr b="0" i="0" lang="en-US" sz="13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2. Calcula inèrcia i silhouette</a:t>
            </a:r>
            <a:br>
              <a:rPr b="0" i="0" lang="en-US" sz="13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3. Compara llavors amb ARI</a:t>
            </a:r>
            <a:br>
              <a:rPr b="0" i="0" lang="en-US" sz="13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4. Desa el mapa geogràfic com fig_mapa.png</a:t>
            </a:r>
            <a:endParaRPr/>
          </a:p>
        </p:txBody>
      </p:sp>
      <p:sp>
        <p:nvSpPr>
          <p:cNvPr id="388" name="Google Shape;388;p16"/>
          <p:cNvSpPr txBox="1"/>
          <p:nvPr/>
        </p:nvSpPr>
        <p:spPr>
          <a:xfrm>
            <a:off x="868680" y="4343400"/>
            <a:ext cx="10332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Dependències principals: pandas · numpy · matplotlib · scikit-learn</a:t>
            </a:r>
            <a:endParaRPr/>
          </a:p>
        </p:txBody>
      </p:sp>
      <p:sp>
        <p:nvSpPr>
          <p:cNvPr id="389" name="Google Shape;389;p16"/>
          <p:cNvSpPr/>
          <p:nvPr/>
        </p:nvSpPr>
        <p:spPr>
          <a:xfrm>
            <a:off x="914400" y="4983480"/>
            <a:ext cx="10241280" cy="777240"/>
          </a:xfrm>
          <a:prstGeom prst="roundRect">
            <a:avLst>
              <a:gd fmla="val 12000" name="adj"/>
            </a:avLst>
          </a:prstGeom>
          <a:solidFill>
            <a:srgbClr val="E7EF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6"/>
          <p:cNvSpPr txBox="1"/>
          <p:nvPr/>
        </p:nvSpPr>
        <p:spPr>
          <a:xfrm>
            <a:off x="1143000" y="5138928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python presentation_matias_FINAL.py     |     python validacio_FINAL.py</a:t>
            </a:r>
            <a:endParaRPr/>
          </a:p>
        </p:txBody>
      </p:sp>
      <p:sp>
        <p:nvSpPr>
          <p:cNvPr id="391" name="Google Shape;391;p16"/>
          <p:cNvSpPr txBox="1"/>
          <p:nvPr/>
        </p:nvSpPr>
        <p:spPr>
          <a:xfrm>
            <a:off x="914400" y="5989320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Cal tenir el CSV al mateix directori que els scripts i les llibreries instal·lades.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7"/>
          <p:cNvSpPr txBox="1"/>
          <p:nvPr/>
        </p:nvSpPr>
        <p:spPr>
          <a:xfrm>
            <a:off x="566928" y="256032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A0A0"/>
                </a:solidFill>
                <a:latin typeface="Arial"/>
                <a:ea typeface="Arial"/>
                <a:cs typeface="Arial"/>
                <a:sym typeface="Arial"/>
              </a:rPr>
              <a:t>16 · APLICACIONS</a:t>
            </a:r>
            <a:endParaRPr/>
          </a:p>
        </p:txBody>
      </p:sp>
      <p:sp>
        <p:nvSpPr>
          <p:cNvPr id="397" name="Google Shape;397;p17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Què se’n pot fer?</a:t>
            </a:r>
            <a:endParaRPr/>
          </a:p>
        </p:txBody>
      </p:sp>
      <p:sp>
        <p:nvSpPr>
          <p:cNvPr id="398" name="Google Shape;398;p17"/>
          <p:cNvSpPr txBox="1"/>
          <p:nvPr/>
        </p:nvSpPr>
        <p:spPr>
          <a:xfrm>
            <a:off x="594360" y="1124712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L’anàlisi és un suport per explorar dades, no un sistema d’alerta.</a:t>
            </a:r>
            <a:endParaRPr/>
          </a:p>
        </p:txBody>
      </p:sp>
      <p:sp>
        <p:nvSpPr>
          <p:cNvPr id="399" name="Google Shape;399;p17"/>
          <p:cNvSpPr/>
          <p:nvPr/>
        </p:nvSpPr>
        <p:spPr>
          <a:xfrm>
            <a:off x="594360" y="1572768"/>
            <a:ext cx="502920" cy="50292"/>
          </a:xfrm>
          <a:prstGeom prst="rect">
            <a:avLst/>
          </a:prstGeom>
          <a:solidFill>
            <a:srgbClr val="1EA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7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  <p:sp>
        <p:nvSpPr>
          <p:cNvPr id="401" name="Google Shape;401;p17"/>
          <p:cNvSpPr/>
          <p:nvPr/>
        </p:nvSpPr>
        <p:spPr>
          <a:xfrm>
            <a:off x="731520" y="1874519"/>
            <a:ext cx="3383280" cy="20574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7"/>
          <p:cNvSpPr/>
          <p:nvPr/>
        </p:nvSpPr>
        <p:spPr>
          <a:xfrm>
            <a:off x="731520" y="1874519"/>
            <a:ext cx="73152" cy="2057400"/>
          </a:xfrm>
          <a:prstGeom prst="rect">
            <a:avLst/>
          </a:prstGeom>
          <a:solidFill>
            <a:srgbClr val="1EA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7"/>
          <p:cNvSpPr txBox="1"/>
          <p:nvPr/>
        </p:nvSpPr>
        <p:spPr>
          <a:xfrm>
            <a:off x="932688" y="2039112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Exploració científica</a:t>
            </a:r>
            <a:endParaRPr/>
          </a:p>
        </p:txBody>
      </p:sp>
      <p:sp>
        <p:nvSpPr>
          <p:cNvPr id="404" name="Google Shape;404;p17"/>
          <p:cNvSpPr txBox="1"/>
          <p:nvPr/>
        </p:nvSpPr>
        <p:spPr>
          <a:xfrm>
            <a:off x="932688" y="2468879"/>
            <a:ext cx="299923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Identificar agrupacions que mereixin estudi geològic posterior.</a:t>
            </a:r>
            <a:endParaRPr/>
          </a:p>
        </p:txBody>
      </p:sp>
      <p:sp>
        <p:nvSpPr>
          <p:cNvPr id="405" name="Google Shape;405;p17"/>
          <p:cNvSpPr/>
          <p:nvPr/>
        </p:nvSpPr>
        <p:spPr>
          <a:xfrm>
            <a:off x="4389120" y="1874519"/>
            <a:ext cx="3383280" cy="20574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7"/>
          <p:cNvSpPr/>
          <p:nvPr/>
        </p:nvSpPr>
        <p:spPr>
          <a:xfrm>
            <a:off x="4389120" y="1874519"/>
            <a:ext cx="73152" cy="2057400"/>
          </a:xfrm>
          <a:prstGeom prst="rect">
            <a:avLst/>
          </a:prstGeom>
          <a:solidFill>
            <a:srgbClr val="F4B74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7"/>
          <p:cNvSpPr txBox="1"/>
          <p:nvPr/>
        </p:nvSpPr>
        <p:spPr>
          <a:xfrm>
            <a:off x="4590288" y="2039112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Control de qualitat</a:t>
            </a:r>
            <a:endParaRPr/>
          </a:p>
        </p:txBody>
      </p:sp>
      <p:sp>
        <p:nvSpPr>
          <p:cNvPr id="408" name="Google Shape;408;p17"/>
          <p:cNvSpPr txBox="1"/>
          <p:nvPr/>
        </p:nvSpPr>
        <p:spPr>
          <a:xfrm>
            <a:off x="4590288" y="2468879"/>
            <a:ext cx="299923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Detectar registres que convé revisar per valors atípics o inconsistències.</a:t>
            </a:r>
            <a:endParaRPr/>
          </a:p>
        </p:txBody>
      </p:sp>
      <p:sp>
        <p:nvSpPr>
          <p:cNvPr id="409" name="Google Shape;409;p17"/>
          <p:cNvSpPr/>
          <p:nvPr/>
        </p:nvSpPr>
        <p:spPr>
          <a:xfrm>
            <a:off x="8046720" y="1874519"/>
            <a:ext cx="3383280" cy="20574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7"/>
          <p:cNvSpPr/>
          <p:nvPr/>
        </p:nvSpPr>
        <p:spPr>
          <a:xfrm>
            <a:off x="8046720" y="1874519"/>
            <a:ext cx="73152" cy="2057400"/>
          </a:xfrm>
          <a:prstGeom prst="rect">
            <a:avLst/>
          </a:prstGeom>
          <a:solidFill>
            <a:srgbClr val="DB4E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7"/>
          <p:cNvSpPr txBox="1"/>
          <p:nvPr/>
        </p:nvSpPr>
        <p:spPr>
          <a:xfrm>
            <a:off x="8247888" y="2039112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Comunicació</a:t>
            </a:r>
            <a:endParaRPr/>
          </a:p>
        </p:txBody>
      </p:sp>
      <p:sp>
        <p:nvSpPr>
          <p:cNvPr id="412" name="Google Shape;412;p17"/>
          <p:cNvSpPr txBox="1"/>
          <p:nvPr/>
        </p:nvSpPr>
        <p:spPr>
          <a:xfrm>
            <a:off x="8247888" y="2468879"/>
            <a:ext cx="299923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Convertir una taula extensa en visualitzacions que expliquen patrons.</a:t>
            </a:r>
            <a:endParaRPr/>
          </a:p>
        </p:txBody>
      </p:sp>
      <p:sp>
        <p:nvSpPr>
          <p:cNvPr id="413" name="Google Shape;413;p17"/>
          <p:cNvSpPr txBox="1"/>
          <p:nvPr/>
        </p:nvSpPr>
        <p:spPr>
          <a:xfrm>
            <a:off x="914400" y="4663440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Possible ampliació: incorporar temps, tipus de magnitud, incerteses i informació de plaques tectòniques; després validar amb experts i fonts independents.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8"/>
          <p:cNvSpPr txBox="1"/>
          <p:nvPr/>
        </p:nvSpPr>
        <p:spPr>
          <a:xfrm>
            <a:off x="566928" y="256032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A0A0"/>
                </a:solidFill>
                <a:latin typeface="Arial"/>
                <a:ea typeface="Arial"/>
                <a:cs typeface="Arial"/>
                <a:sym typeface="Arial"/>
              </a:rPr>
              <a:t>17 · LIMITACIONS I MILLORES</a:t>
            </a:r>
            <a:endParaRPr/>
          </a:p>
        </p:txBody>
      </p:sp>
      <p:sp>
        <p:nvSpPr>
          <p:cNvPr id="419" name="Google Shape;419;p18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Què no podem concloure?</a:t>
            </a:r>
            <a:endParaRPr/>
          </a:p>
        </p:txBody>
      </p:sp>
      <p:sp>
        <p:nvSpPr>
          <p:cNvPr id="420" name="Google Shape;420;p18"/>
          <p:cNvSpPr txBox="1"/>
          <p:nvPr/>
        </p:nvSpPr>
        <p:spPr>
          <a:xfrm>
            <a:off x="594360" y="1124712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Reconèixer els límits és part de fer una anàlisi rigorosa.</a:t>
            </a:r>
            <a:endParaRPr/>
          </a:p>
        </p:txBody>
      </p:sp>
      <p:sp>
        <p:nvSpPr>
          <p:cNvPr id="421" name="Google Shape;421;p18"/>
          <p:cNvSpPr/>
          <p:nvPr/>
        </p:nvSpPr>
        <p:spPr>
          <a:xfrm>
            <a:off x="594360" y="1572768"/>
            <a:ext cx="502920" cy="50292"/>
          </a:xfrm>
          <a:prstGeom prst="rect">
            <a:avLst/>
          </a:prstGeom>
          <a:solidFill>
            <a:srgbClr val="1EA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8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/>
          </a:p>
        </p:txBody>
      </p:sp>
      <p:sp>
        <p:nvSpPr>
          <p:cNvPr id="423" name="Google Shape;423;p18"/>
          <p:cNvSpPr txBox="1"/>
          <p:nvPr/>
        </p:nvSpPr>
        <p:spPr>
          <a:xfrm>
            <a:off x="868680" y="1874519"/>
            <a:ext cx="1042416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•  K-Means afavoreix grups compactes i depèn de distàncies euclidianes.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•  Latitud/longitud no són una representació perfecta de distàncies sobre el globus.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•  Els resultats depenen de la finestra temporal, la qualitat i la cobertura de les dades.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•  La distància als veïns marca atipicitat, no risc sísmic ni magnitud futura.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•  Cal provar K alternatius, projeccions geogràfiques i mètodes com DBSCAN.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9"/>
          <p:cNvSpPr txBox="1"/>
          <p:nvPr/>
        </p:nvSpPr>
        <p:spPr>
          <a:xfrm>
            <a:off x="566928" y="256032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A0A0"/>
                </a:solidFill>
                <a:latin typeface="Arial"/>
                <a:ea typeface="Arial"/>
                <a:cs typeface="Arial"/>
                <a:sym typeface="Arial"/>
              </a:rPr>
              <a:t>18 · CONCLUSIONS</a:t>
            </a:r>
            <a:endParaRPr/>
          </a:p>
        </p:txBody>
      </p:sp>
      <p:sp>
        <p:nvSpPr>
          <p:cNvPr id="429" name="Google Shape;429;p19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Què ens emportem?</a:t>
            </a:r>
            <a:endParaRPr/>
          </a:p>
        </p:txBody>
      </p:sp>
      <p:sp>
        <p:nvSpPr>
          <p:cNvPr id="430" name="Google Shape;430;p19"/>
          <p:cNvSpPr txBox="1"/>
          <p:nvPr/>
        </p:nvSpPr>
        <p:spPr>
          <a:xfrm>
            <a:off x="594360" y="1124712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Del problema inicial a una resposta basada en dades.</a:t>
            </a:r>
            <a:endParaRPr/>
          </a:p>
        </p:txBody>
      </p:sp>
      <p:sp>
        <p:nvSpPr>
          <p:cNvPr id="431" name="Google Shape;431;p19"/>
          <p:cNvSpPr/>
          <p:nvPr/>
        </p:nvSpPr>
        <p:spPr>
          <a:xfrm>
            <a:off x="594360" y="1572768"/>
            <a:ext cx="502920" cy="50292"/>
          </a:xfrm>
          <a:prstGeom prst="rect">
            <a:avLst/>
          </a:prstGeom>
          <a:solidFill>
            <a:srgbClr val="1EA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9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/>
          </a:p>
        </p:txBody>
      </p:sp>
      <p:sp>
        <p:nvSpPr>
          <p:cNvPr id="433" name="Google Shape;433;p19"/>
          <p:cNvSpPr/>
          <p:nvPr/>
        </p:nvSpPr>
        <p:spPr>
          <a:xfrm>
            <a:off x="731520" y="1828800"/>
            <a:ext cx="3383280" cy="201168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9"/>
          <p:cNvSpPr/>
          <p:nvPr/>
        </p:nvSpPr>
        <p:spPr>
          <a:xfrm>
            <a:off x="731520" y="1828800"/>
            <a:ext cx="73152" cy="2011680"/>
          </a:xfrm>
          <a:prstGeom prst="rect">
            <a:avLst/>
          </a:prstGeom>
          <a:solidFill>
            <a:srgbClr val="1EA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9"/>
          <p:cNvSpPr txBox="1"/>
          <p:nvPr/>
        </p:nvSpPr>
        <p:spPr>
          <a:xfrm>
            <a:off x="932688" y="1993392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Hem construït</a:t>
            </a:r>
            <a:endParaRPr/>
          </a:p>
        </p:txBody>
      </p:sp>
      <p:sp>
        <p:nvSpPr>
          <p:cNvPr id="436" name="Google Shape;436;p19"/>
          <p:cNvSpPr txBox="1"/>
          <p:nvPr/>
        </p:nvSpPr>
        <p:spPr>
          <a:xfrm>
            <a:off x="932688" y="2423160"/>
            <a:ext cx="2999232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Un flux complet: neteja, normalització, clustering, validació i visualització.</a:t>
            </a:r>
            <a:endParaRPr/>
          </a:p>
        </p:txBody>
      </p:sp>
      <p:sp>
        <p:nvSpPr>
          <p:cNvPr id="437" name="Google Shape;437;p19"/>
          <p:cNvSpPr/>
          <p:nvPr/>
        </p:nvSpPr>
        <p:spPr>
          <a:xfrm>
            <a:off x="4389120" y="1828800"/>
            <a:ext cx="3383280" cy="201168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9"/>
          <p:cNvSpPr/>
          <p:nvPr/>
        </p:nvSpPr>
        <p:spPr>
          <a:xfrm>
            <a:off x="4389120" y="1828800"/>
            <a:ext cx="73152" cy="2011680"/>
          </a:xfrm>
          <a:prstGeom prst="rect">
            <a:avLst/>
          </a:prstGeom>
          <a:solidFill>
            <a:srgbClr val="F4B74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9"/>
          <p:cNvSpPr txBox="1"/>
          <p:nvPr/>
        </p:nvSpPr>
        <p:spPr>
          <a:xfrm>
            <a:off x="4590288" y="1993392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Hem contrastat</a:t>
            </a:r>
            <a:endParaRPr/>
          </a:p>
        </p:txBody>
      </p:sp>
      <p:sp>
        <p:nvSpPr>
          <p:cNvPr id="440" name="Google Shape;440;p19"/>
          <p:cNvSpPr txBox="1"/>
          <p:nvPr/>
        </p:nvSpPr>
        <p:spPr>
          <a:xfrm>
            <a:off x="4590288" y="2423160"/>
            <a:ext cx="2999232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K=3 és estable en les llavors provades, però no maximitza la silhouette global.</a:t>
            </a:r>
            <a:endParaRPr/>
          </a:p>
        </p:txBody>
      </p:sp>
      <p:sp>
        <p:nvSpPr>
          <p:cNvPr id="441" name="Google Shape;441;p19"/>
          <p:cNvSpPr/>
          <p:nvPr/>
        </p:nvSpPr>
        <p:spPr>
          <a:xfrm>
            <a:off x="8046720" y="1828800"/>
            <a:ext cx="3383280" cy="201168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9"/>
          <p:cNvSpPr/>
          <p:nvPr/>
        </p:nvSpPr>
        <p:spPr>
          <a:xfrm>
            <a:off x="8046720" y="1828800"/>
            <a:ext cx="73152" cy="2011680"/>
          </a:xfrm>
          <a:prstGeom prst="rect">
            <a:avLst/>
          </a:prstGeom>
          <a:solidFill>
            <a:srgbClr val="DB4E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9"/>
          <p:cNvSpPr txBox="1"/>
          <p:nvPr/>
        </p:nvSpPr>
        <p:spPr>
          <a:xfrm>
            <a:off x="8247888" y="1993392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Hem après</a:t>
            </a:r>
            <a:endParaRPr/>
          </a:p>
        </p:txBody>
      </p:sp>
      <p:sp>
        <p:nvSpPr>
          <p:cNvPr id="444" name="Google Shape;444;p19"/>
          <p:cNvSpPr txBox="1"/>
          <p:nvPr/>
        </p:nvSpPr>
        <p:spPr>
          <a:xfrm>
            <a:off x="8247888" y="2423160"/>
            <a:ext cx="2999232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Els clústers i les anomalies són pistes per investigar, no veredictes científics.</a:t>
            </a:r>
            <a:endParaRPr/>
          </a:p>
        </p:txBody>
      </p:sp>
      <p:sp>
        <p:nvSpPr>
          <p:cNvPr id="445" name="Google Shape;445;p19"/>
          <p:cNvSpPr txBox="1"/>
          <p:nvPr/>
        </p:nvSpPr>
        <p:spPr>
          <a:xfrm>
            <a:off x="914400" y="461772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Conclusió final: l’aprenentatge no supervisat ajuda a veure patrons en dades sísmiques, sempre que validem els resultats i expliquem amb claredat què signifiquen —i què no.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0"/>
          <p:cNvSpPr txBox="1"/>
          <p:nvPr/>
        </p:nvSpPr>
        <p:spPr>
          <a:xfrm>
            <a:off x="566928" y="256032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A0A0"/>
                </a:solidFill>
                <a:latin typeface="Arial"/>
                <a:ea typeface="Arial"/>
                <a:cs typeface="Arial"/>
                <a:sym typeface="Arial"/>
              </a:rPr>
              <a:t>19 · TANCAMENT</a:t>
            </a:r>
            <a:endParaRPr/>
          </a:p>
        </p:txBody>
      </p:sp>
      <p:sp>
        <p:nvSpPr>
          <p:cNvPr id="451" name="Google Shape;451;p20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I ara, què investigaries?</a:t>
            </a:r>
            <a:endParaRPr/>
          </a:p>
        </p:txBody>
      </p:sp>
      <p:sp>
        <p:nvSpPr>
          <p:cNvPr id="452" name="Google Shape;452;p20"/>
          <p:cNvSpPr txBox="1"/>
          <p:nvPr/>
        </p:nvSpPr>
        <p:spPr>
          <a:xfrm>
            <a:off x="594360" y="1124712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Pregunta al públic per obrir el debat i demostrar domini del tema.</a:t>
            </a:r>
            <a:endParaRPr/>
          </a:p>
        </p:txBody>
      </p:sp>
      <p:sp>
        <p:nvSpPr>
          <p:cNvPr id="453" name="Google Shape;453;p20"/>
          <p:cNvSpPr/>
          <p:nvPr/>
        </p:nvSpPr>
        <p:spPr>
          <a:xfrm>
            <a:off x="594360" y="1572768"/>
            <a:ext cx="502920" cy="50292"/>
          </a:xfrm>
          <a:prstGeom prst="rect">
            <a:avLst/>
          </a:prstGeom>
          <a:solidFill>
            <a:srgbClr val="1EA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0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E6F82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455" name="Google Shape;455;p20"/>
          <p:cNvSpPr txBox="1"/>
          <p:nvPr/>
        </p:nvSpPr>
        <p:spPr>
          <a:xfrm>
            <a:off x="914400" y="2011680"/>
            <a:ext cx="10241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Si canviéssim K=3 per K=2 o K=5, quin criteri prioritzaries: simplicitat, silhouette o interpretabilitat científica?</a:t>
            </a:r>
            <a:endParaRPr/>
          </a:p>
        </p:txBody>
      </p:sp>
      <p:sp>
        <p:nvSpPr>
          <p:cNvPr id="456" name="Google Shape;456;p20"/>
          <p:cNvSpPr/>
          <p:nvPr/>
        </p:nvSpPr>
        <p:spPr>
          <a:xfrm>
            <a:off x="914400" y="3703320"/>
            <a:ext cx="3108960" cy="13716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0"/>
          <p:cNvSpPr/>
          <p:nvPr/>
        </p:nvSpPr>
        <p:spPr>
          <a:xfrm>
            <a:off x="914400" y="3703320"/>
            <a:ext cx="73152" cy="1371600"/>
          </a:xfrm>
          <a:prstGeom prst="rect">
            <a:avLst/>
          </a:prstGeom>
          <a:solidFill>
            <a:srgbClr val="1EA0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0"/>
          <p:cNvSpPr txBox="1"/>
          <p:nvPr/>
        </p:nvSpPr>
        <p:spPr>
          <a:xfrm>
            <a:off x="1115568" y="3867911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Pregunta 1</a:t>
            </a:r>
            <a:endParaRPr/>
          </a:p>
        </p:txBody>
      </p:sp>
      <p:sp>
        <p:nvSpPr>
          <p:cNvPr id="459" name="Google Shape;459;p20"/>
          <p:cNvSpPr txBox="1"/>
          <p:nvPr/>
        </p:nvSpPr>
        <p:spPr>
          <a:xfrm>
            <a:off x="1115568" y="4297680"/>
            <a:ext cx="27249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Una anomalia sempre és un error?</a:t>
            </a:r>
            <a:endParaRPr/>
          </a:p>
        </p:txBody>
      </p:sp>
      <p:sp>
        <p:nvSpPr>
          <p:cNvPr id="460" name="Google Shape;460;p20"/>
          <p:cNvSpPr/>
          <p:nvPr/>
        </p:nvSpPr>
        <p:spPr>
          <a:xfrm>
            <a:off x="4526280" y="3703320"/>
            <a:ext cx="3108960" cy="13716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0"/>
          <p:cNvSpPr/>
          <p:nvPr/>
        </p:nvSpPr>
        <p:spPr>
          <a:xfrm>
            <a:off x="4526280" y="3703320"/>
            <a:ext cx="73152" cy="1371600"/>
          </a:xfrm>
          <a:prstGeom prst="rect">
            <a:avLst/>
          </a:prstGeom>
          <a:solidFill>
            <a:srgbClr val="F4B74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0"/>
          <p:cNvSpPr txBox="1"/>
          <p:nvPr/>
        </p:nvSpPr>
        <p:spPr>
          <a:xfrm>
            <a:off x="4727448" y="3867911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Pregunta 2</a:t>
            </a:r>
            <a:endParaRPr/>
          </a:p>
        </p:txBody>
      </p:sp>
      <p:sp>
        <p:nvSpPr>
          <p:cNvPr id="463" name="Google Shape;463;p20"/>
          <p:cNvSpPr txBox="1"/>
          <p:nvPr/>
        </p:nvSpPr>
        <p:spPr>
          <a:xfrm>
            <a:off x="4727448" y="4297680"/>
            <a:ext cx="27249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Per què cal normalitzar?</a:t>
            </a:r>
            <a:endParaRPr/>
          </a:p>
        </p:txBody>
      </p:sp>
      <p:sp>
        <p:nvSpPr>
          <p:cNvPr id="464" name="Google Shape;464;p20"/>
          <p:cNvSpPr/>
          <p:nvPr/>
        </p:nvSpPr>
        <p:spPr>
          <a:xfrm>
            <a:off x="8138160" y="3703320"/>
            <a:ext cx="3108960" cy="13716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7EF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0"/>
          <p:cNvSpPr/>
          <p:nvPr/>
        </p:nvSpPr>
        <p:spPr>
          <a:xfrm>
            <a:off x="8138160" y="3703320"/>
            <a:ext cx="73152" cy="1371600"/>
          </a:xfrm>
          <a:prstGeom prst="rect">
            <a:avLst/>
          </a:prstGeom>
          <a:solidFill>
            <a:srgbClr val="DB4E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0"/>
          <p:cNvSpPr txBox="1"/>
          <p:nvPr/>
        </p:nvSpPr>
        <p:spPr>
          <a:xfrm>
            <a:off x="8339328" y="3867911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1F36"/>
                </a:solidFill>
                <a:latin typeface="Arial"/>
                <a:ea typeface="Arial"/>
                <a:cs typeface="Arial"/>
                <a:sym typeface="Arial"/>
              </a:rPr>
              <a:t>Pregunta 3</a:t>
            </a:r>
            <a:endParaRPr/>
          </a:p>
        </p:txBody>
      </p:sp>
      <p:sp>
        <p:nvSpPr>
          <p:cNvPr id="467" name="Google Shape;467;p20"/>
          <p:cNvSpPr txBox="1"/>
          <p:nvPr/>
        </p:nvSpPr>
        <p:spPr>
          <a:xfrm>
            <a:off x="8339328" y="4297680"/>
            <a:ext cx="27249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2B3D"/>
                </a:solidFill>
                <a:latin typeface="Arial"/>
                <a:ea typeface="Arial"/>
                <a:cs typeface="Arial"/>
                <a:sym typeface="Arial"/>
              </a:rPr>
              <a:t>Com validaries els clústers amb dades externes?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